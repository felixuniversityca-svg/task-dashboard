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480" y="594360"/>
            <a:ext cx="1083306" cy="426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5480" y="6035040"/>
            <a:ext cx="36576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Mardi 21 juillet 2026</a:t>
            </a:r>
            <a:endParaRPr lang="en-US" sz="810" dirty="0"/>
          </a:p>
        </p:txBody>
      </p:sp>
    </p:spTree>
  </p:cSld>
  <p:clrMapOvr>
    <a:masterClrMapping/>
  </p:clrMapOvr>
  <p:transition advTm="80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480" y="594360"/>
            <a:ext cx="1083306" cy="426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5480" y="6035040"/>
            <a:ext cx="36576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Mardi 21 juillet 2026</a:t>
            </a:r>
            <a:endParaRPr lang="en-US" sz="810" dirty="0"/>
          </a:p>
        </p:txBody>
      </p:sp>
      <p:sp>
        <p:nvSpPr>
          <p:cNvPr id="4" name="Shape 1"/>
          <p:cNvSpPr/>
          <p:nvPr/>
        </p:nvSpPr>
        <p:spPr>
          <a:xfrm>
            <a:off x="865480" y="2404110"/>
            <a:ext cx="487680" cy="30480"/>
          </a:xfrm>
          <a:prstGeom prst="roundRect">
            <a:avLst>
              <a:gd name="adj" fmla="val 48000"/>
            </a:avLst>
          </a:prstGeom>
          <a:solidFill>
            <a:srgbClr val="0488C1"/>
          </a:solidFill>
          <a:ln/>
        </p:spPr>
      </p:sp>
      <p:sp>
        <p:nvSpPr>
          <p:cNvPr id="5" name="Text 2"/>
          <p:cNvSpPr/>
          <p:nvPr/>
        </p:nvSpPr>
        <p:spPr>
          <a:xfrm>
            <a:off x="865480" y="2663190"/>
            <a:ext cx="10460736" cy="137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410"/>
              </a:lnSpc>
              <a:buNone/>
            </a:pPr>
            <a:r>
              <a:rPr lang="en-US" sz="5760" b="1" spc="-15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L'IA,</a:t>
            </a:r>
            <a:endParaRPr lang="en-US" sz="5760" dirty="0"/>
          </a:p>
          <a:p>
            <a:pPr algn="l" indent="0" marL="0">
              <a:lnSpc>
                <a:spcPts val="5410"/>
              </a:lnSpc>
              <a:buNone/>
            </a:pPr>
            <a:r>
              <a:rPr lang="en-US" sz="5760" b="1" spc="-15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concrètement.</a:t>
            </a:r>
            <a:endParaRPr lang="en-US" sz="5760" dirty="0"/>
          </a:p>
        </p:txBody>
      </p:sp>
      <p:sp>
        <p:nvSpPr>
          <p:cNvPr id="6" name="Text 3"/>
          <p:cNvSpPr/>
          <p:nvPr/>
        </p:nvSpPr>
        <p:spPr>
          <a:xfrm>
            <a:off x="865480" y="4175760"/>
            <a:ext cx="417271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 que nous avons construit en deux mois, et ce que vous pouvez installer en sortant d'ici.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29768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BOÎTE À OUTILS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526286"/>
            <a:ext cx="868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cerveau, la bibliothèque, la tuyauterie.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29768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BOÎTE À OUTILS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526286"/>
            <a:ext cx="868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cerveau, la bibliothèque, la tuyauterie.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388968" y="3725418"/>
            <a:ext cx="853440" cy="326136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headEnd type="oval"/>
          </a:ln>
        </p:spPr>
      </p:sp>
      <p:sp>
        <p:nvSpPr>
          <p:cNvPr id="5" name="Shape 3"/>
          <p:cNvSpPr/>
          <p:nvPr/>
        </p:nvSpPr>
        <p:spPr>
          <a:xfrm flipV="1">
            <a:off x="6949288" y="3725418"/>
            <a:ext cx="853440" cy="326136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tailEnd type="oval"/>
          </a:ln>
        </p:spPr>
      </p:sp>
      <p:sp>
        <p:nvSpPr>
          <p:cNvPr id="6" name="Shape 4"/>
          <p:cNvSpPr/>
          <p:nvPr/>
        </p:nvSpPr>
        <p:spPr>
          <a:xfrm>
            <a:off x="2743048" y="2151126"/>
            <a:ext cx="3291840" cy="1546860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866492" y="2289810"/>
            <a:ext cx="301752" cy="301752"/>
          </a:xfrm>
          <a:prstGeom prst="roundRect">
            <a:avLst>
              <a:gd name="adj" fmla="val 21212"/>
            </a:avLst>
          </a:prstGeom>
          <a:solidFill>
            <a:srgbClr val="FEEDE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842" y="2350160"/>
            <a:ext cx="181051" cy="1810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903068" y="2669286"/>
            <a:ext cx="292608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b="1" spc="82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CERVEAU DE L'OPÉRATION</a:t>
            </a:r>
            <a:endParaRPr lang="en-US" sz="630" dirty="0"/>
          </a:p>
        </p:txBody>
      </p:sp>
      <p:sp>
        <p:nvSpPr>
          <p:cNvPr id="10" name="Text 7"/>
          <p:cNvSpPr/>
          <p:nvPr/>
        </p:nvSpPr>
        <p:spPr>
          <a:xfrm>
            <a:off x="2903068" y="2836926"/>
            <a:ext cx="292608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Mistral</a:t>
            </a:r>
            <a:endParaRPr lang="en-US" sz="1620" dirty="0"/>
          </a:p>
        </p:txBody>
      </p:sp>
      <p:sp>
        <p:nvSpPr>
          <p:cNvPr id="11" name="Text 8"/>
          <p:cNvSpPr/>
          <p:nvPr/>
        </p:nvSpPr>
        <p:spPr>
          <a:xfrm>
            <a:off x="2903068" y="3179826"/>
            <a:ext cx="29718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L'IA à qui on parle, qui comprend, qui rédige. Elle suit et alimente le projet de bout en bout.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156808" y="2151126"/>
            <a:ext cx="3291840" cy="1546860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80252" y="2289810"/>
            <a:ext cx="301752" cy="301752"/>
          </a:xfrm>
          <a:prstGeom prst="roundRect">
            <a:avLst>
              <a:gd name="adj" fmla="val 21212"/>
            </a:avLst>
          </a:prstGeom>
          <a:solidFill>
            <a:srgbClr val="E5F5F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0602" y="2350160"/>
            <a:ext cx="181051" cy="18105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16828" y="2669286"/>
            <a:ext cx="292608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b="1" spc="82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BIBLIOTHÈQUE</a:t>
            </a:r>
            <a:endParaRPr lang="en-US" sz="630" dirty="0"/>
          </a:p>
        </p:txBody>
      </p:sp>
      <p:sp>
        <p:nvSpPr>
          <p:cNvPr id="16" name="Text 12"/>
          <p:cNvSpPr/>
          <p:nvPr/>
        </p:nvSpPr>
        <p:spPr>
          <a:xfrm>
            <a:off x="6316828" y="2836926"/>
            <a:ext cx="292608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endParaRPr lang="en-US" sz="1620" dirty="0"/>
          </a:p>
        </p:txBody>
      </p:sp>
      <p:sp>
        <p:nvSpPr>
          <p:cNvPr id="17" name="Text 13"/>
          <p:cNvSpPr/>
          <p:nvPr/>
        </p:nvSpPr>
        <p:spPr>
          <a:xfrm>
            <a:off x="6316828" y="3179826"/>
            <a:ext cx="29718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Comptes, contacts, historique. C'est là que tout doit finir, trié, proprement rangé.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962248" y="4078986"/>
            <a:ext cx="4267200" cy="1375410"/>
          </a:xfrm>
          <a:prstGeom prst="roundRect">
            <a:avLst>
              <a:gd name="adj" fmla="val 6648"/>
            </a:avLst>
          </a:prstGeom>
          <a:solidFill>
            <a:srgbClr val="FEF7F9"/>
          </a:solidFill>
          <a:ln w="9525">
            <a:solidFill>
              <a:srgbClr val="F2BCCA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944972" y="4217670"/>
            <a:ext cx="301752" cy="301752"/>
          </a:xfrm>
          <a:prstGeom prst="roundRect">
            <a:avLst>
              <a:gd name="adj" fmla="val 21212"/>
            </a:avLst>
          </a:prstGeom>
          <a:solidFill>
            <a:srgbClr val="FCEDF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322" y="4278020"/>
            <a:ext cx="181051" cy="18105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145128" y="4597146"/>
            <a:ext cx="39014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82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TUYAUTERIE</a:t>
            </a:r>
            <a:endParaRPr lang="en-US" sz="630" dirty="0"/>
          </a:p>
        </p:txBody>
      </p:sp>
      <p:sp>
        <p:nvSpPr>
          <p:cNvPr id="22" name="Text 17"/>
          <p:cNvSpPr/>
          <p:nvPr/>
        </p:nvSpPr>
        <p:spPr>
          <a:xfrm>
            <a:off x="4145128" y="4764786"/>
            <a:ext cx="3901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n8n</a:t>
            </a:r>
            <a:endParaRPr lang="en-US" sz="1620" dirty="0"/>
          </a:p>
        </p:txBody>
      </p:sp>
      <p:sp>
        <p:nvSpPr>
          <p:cNvPr id="23" name="Text 18"/>
          <p:cNvSpPr/>
          <p:nvPr/>
        </p:nvSpPr>
        <p:spPr>
          <a:xfrm>
            <a:off x="4145128" y="5107686"/>
            <a:ext cx="390144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C'est elle qui les fait dialoguer.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2784490" y="3733802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3348102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4773711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5337323" y="4645528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6762932" y="4645528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7326544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8752153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9315765" y="3899571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29387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DIAGNOSTIC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522476"/>
            <a:ext cx="868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048" y="2132076"/>
            <a:ext cx="4724400" cy="859536"/>
          </a:xfrm>
          <a:prstGeom prst="roundRect">
            <a:avLst>
              <a:gd name="adj" fmla="val 1773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918308" y="2261616"/>
            <a:ext cx="437388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On n'a pas tous le réflexe Salesforce... ni toujours le temps. »</a:t>
            </a:r>
            <a:endParaRPr lang="en-US" sz="1380" dirty="0"/>
          </a:p>
        </p:txBody>
      </p:sp>
      <p:sp>
        <p:nvSpPr>
          <p:cNvPr id="6" name="Text 4"/>
          <p:cNvSpPr/>
          <p:nvPr/>
        </p:nvSpPr>
        <p:spPr>
          <a:xfrm>
            <a:off x="3017368" y="2778252"/>
            <a:ext cx="41757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l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le monde</a:t>
            </a:r>
            <a:endParaRPr lang="en-US" sz="690" dirty="0"/>
          </a:p>
        </p:txBody>
      </p:sp>
      <p:sp>
        <p:nvSpPr>
          <p:cNvPr id="7" name="Shape 5"/>
          <p:cNvSpPr/>
          <p:nvPr/>
        </p:nvSpPr>
        <p:spPr>
          <a:xfrm>
            <a:off x="4776064" y="3105912"/>
            <a:ext cx="4672584" cy="631698"/>
          </a:xfrm>
          <a:prstGeom prst="roundRect">
            <a:avLst>
              <a:gd name="adj" fmla="val 24125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51324" y="3235452"/>
            <a:ext cx="4322064" cy="273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Ce qui se dit en RDV reste chez ceux qui y étaient. »</a:t>
            </a:r>
            <a:endParaRPr lang="en-US" sz="1380" dirty="0"/>
          </a:p>
        </p:txBody>
      </p:sp>
      <p:sp>
        <p:nvSpPr>
          <p:cNvPr id="9" name="Text 7"/>
          <p:cNvSpPr/>
          <p:nvPr/>
        </p:nvSpPr>
        <p:spPr>
          <a:xfrm>
            <a:off x="5050384" y="3524250"/>
            <a:ext cx="4123944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r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IR et buy-out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2743048" y="3851910"/>
            <a:ext cx="4724400" cy="859536"/>
          </a:xfrm>
          <a:prstGeom prst="roundRect">
            <a:avLst>
              <a:gd name="adj" fmla="val 1773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18308" y="3981450"/>
            <a:ext cx="437388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Aucun moyen d'interroger nos participations d'un coup. »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3017368" y="4498086"/>
            <a:ext cx="41757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l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équipes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5499202" y="4825746"/>
            <a:ext cx="3949446" cy="631698"/>
          </a:xfrm>
          <a:prstGeom prst="roundRect">
            <a:avLst>
              <a:gd name="adj" fmla="val 24125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674462" y="4955286"/>
            <a:ext cx="3598926" cy="273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On ne sait pas ce qui bouge chez nos LP. »</a:t>
            </a:r>
            <a:endParaRPr lang="en-US" sz="1380" dirty="0"/>
          </a:p>
        </p:txBody>
      </p:sp>
      <p:sp>
        <p:nvSpPr>
          <p:cNvPr id="15" name="Text 13"/>
          <p:cNvSpPr/>
          <p:nvPr/>
        </p:nvSpPr>
        <p:spPr>
          <a:xfrm>
            <a:off x="5773522" y="5244084"/>
            <a:ext cx="340080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r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Chris</a:t>
            </a:r>
            <a:endParaRPr lang="en-US" sz="69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670048"/>
            <a:ext cx="11091672" cy="199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SEUL SUJET</a:t>
            </a:r>
            <a:endParaRPr lang="en-US" sz="900" dirty="0"/>
          </a:p>
        </p:txBody>
      </p:sp>
      <p:sp>
        <p:nvSpPr>
          <p:cNvPr id="3" name="!!verdict"/>
          <p:cNvSpPr/>
          <p:nvPr/>
        </p:nvSpPr>
        <p:spPr>
          <a:xfrm>
            <a:off x="1055218" y="2964180"/>
            <a:ext cx="10081260" cy="643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b="1" i="1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L'information est là, </a:t>
            </a:r>
            <a:pPr algn="ctr" indent="0" marL="0">
              <a:buNone/>
            </a:pPr>
            <a:r>
              <a:rPr lang="en-US" sz="3480" b="1" i="1" spc="-87" kern="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MAIS </a:t>
            </a:r>
            <a:pPr algn="ctr" indent="0" marL="0">
              <a:buNone/>
            </a:pPr>
            <a:r>
              <a:rPr lang="en-US" sz="3480" b="1" i="1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à portée de main.</a:t>
            </a:r>
            <a:endParaRPr lang="en-US" sz="348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670048"/>
            <a:ext cx="11091672" cy="199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SEUL SUJET</a:t>
            </a:r>
            <a:endParaRPr lang="en-US" sz="900" dirty="0"/>
          </a:p>
        </p:txBody>
      </p:sp>
      <p:sp>
        <p:nvSpPr>
          <p:cNvPr id="3" name="!!verdict"/>
          <p:cNvSpPr/>
          <p:nvPr/>
        </p:nvSpPr>
        <p:spPr>
          <a:xfrm>
            <a:off x="1055218" y="2964180"/>
            <a:ext cx="10081260" cy="643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b="1" i="1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L'information est là, </a:t>
            </a:r>
            <a:pPr algn="ctr" indent="0" marL="0">
              <a:buNone/>
            </a:pPr>
            <a:r>
              <a:rPr lang="en-US" sz="3480" b="1" i="1" spc="-87" kern="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MAIS </a:t>
            </a:r>
            <a:pPr algn="ctr" indent="0" marL="0">
              <a:buNone/>
            </a:pPr>
            <a:r>
              <a:rPr lang="en-US" sz="3480" b="1" i="1" strike="sngStrike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à portée de main.</a:t>
            </a:r>
            <a:endParaRPr lang="en-US" sz="3480" dirty="0"/>
          </a:p>
        </p:txBody>
      </p:sp>
      <p:sp>
        <p:nvSpPr>
          <p:cNvPr id="4" name="Text 2"/>
          <p:cNvSpPr/>
          <p:nvPr/>
        </p:nvSpPr>
        <p:spPr>
          <a:xfrm>
            <a:off x="548640" y="3787140"/>
            <a:ext cx="11091672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-4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outils pour la mettre à portée de main.</a:t>
            </a:r>
            <a:endParaRPr lang="en-US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num"/>
          <p:cNvSpPr/>
          <p:nvPr/>
        </p:nvSpPr>
        <p:spPr>
          <a:xfrm>
            <a:off x="1752448" y="1992630"/>
            <a:ext cx="8686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spc="-300" kern="0" dirty="0">
                <a:solidFill>
                  <a:srgbClr val="049E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757782" y="4327398"/>
            <a:ext cx="867613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spc="-3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compte-rendu qui s'écrit tout seul.</a:t>
            </a:r>
            <a:endParaRPr lang="en-US" sz="19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93134" y="1386840"/>
            <a:ext cx="5414772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193134" y="1665732"/>
            <a:ext cx="5414772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93134" y="2298192"/>
            <a:ext cx="5414772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93134" y="1386840"/>
            <a:ext cx="5414772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193134" y="1665732"/>
            <a:ext cx="5414772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93134" y="2298192"/>
            <a:ext cx="5414772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4193134" y="4572000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4193134" y="4572000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46702" y="4572000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93134" y="4925568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4193134" y="4925568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46702" y="4925568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93134" y="5279136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4193134" y="5279136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6702" y="5279136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600">
        <p159:morph option="byObject"/>
      </p:transition>
    </mc:Choice>
    <mc:Fallback>
      <p:transition spd="fast" advTm="26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43865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Zéro saisie Salesforce.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parlez, vous validez, c'est rangé.</a:t>
            </a:r>
            <a:endParaRPr lang="en-US" sz="1260" dirty="0"/>
          </a:p>
        </p:txBody>
      </p:sp>
      <p:pic>
        <p:nvPicPr>
          <p:cNvPr id="15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num"/>
          <p:cNvSpPr/>
          <p:nvPr/>
        </p:nvSpPr>
        <p:spPr>
          <a:xfrm>
            <a:off x="1752448" y="1992630"/>
            <a:ext cx="8686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spc="-300" kern="0" dirty="0">
                <a:solidFill>
                  <a:srgbClr val="049E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757782" y="4327398"/>
            <a:ext cx="867613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spc="-3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Arriver prêt, sans rien préparer.</a:t>
            </a:r>
            <a:endParaRPr lang="en-US" sz="19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15588" y="1386840"/>
            <a:ext cx="5020056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015588" y="1665732"/>
            <a:ext cx="5020056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015588" y="2298192"/>
            <a:ext cx="5020056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15588" y="1386840"/>
            <a:ext cx="5020056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015588" y="1665732"/>
            <a:ext cx="5020056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015588" y="2298192"/>
            <a:ext cx="5020056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4015588" y="4572000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4015588" y="4572000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369156" y="4572000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015588" y="4925568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4015588" y="4925568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369156" y="4925568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15588" y="5279136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4015588" y="5279136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69156" y="5279136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  <p:sp>
        <p:nvSpPr>
          <p:cNvPr id="16" name="!!fiche"/>
          <p:cNvSpPr/>
          <p:nvPr/>
        </p:nvSpPr>
        <p:spPr>
          <a:xfrm>
            <a:off x="7321144" y="1596177"/>
            <a:ext cx="2118390" cy="4002054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7" name="!!fname"/>
          <p:cNvSpPr/>
          <p:nvPr/>
        </p:nvSpPr>
        <p:spPr>
          <a:xfrm>
            <a:off x="7412584" y="1641897"/>
            <a:ext cx="193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</a:t>
            </a:r>
            <a:pPr indent="0" marL="0">
              <a:buNone/>
            </a:pPr>
            <a:r>
              <a:rPr lang="en-US" sz="500" b="1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🟢 LP, déjà investi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7412584" y="1870497"/>
            <a:ext cx="19355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00"/>
              </a:lnSpc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 est LP, associé fondateur de Breizh Rebond, investi en son nom propre : 200 000 € sur Bluester Europe V, clos le 27/11/2025. Dernier échange : dîner LP avec Chris à Nantes, le 7 juillet. Prochaine étape : programmer le RDV Edelweiss 2.</a:t>
            </a:r>
            <a:endParaRPr lang="en-US" sz="500" dirty="0"/>
          </a:p>
        </p:txBody>
      </p:sp>
      <p:sp>
        <p:nvSpPr>
          <p:cNvPr id="19" name="Text 16"/>
          <p:cNvSpPr/>
          <p:nvPr/>
        </p:nvSpPr>
        <p:spPr>
          <a:xfrm>
            <a:off x="7412584" y="2602017"/>
            <a:ext cx="1935510" cy="2859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📁 Salesforce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Responsable : Chris Chenebault · Dernier contact : 7 juillet (dîner à Nantes) · Engagements : Levée Bluester Europe V (200 000 €)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🕘 Historique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13/07 Nouvelle piste : Levée Edelweiss 2 · 07/07 Dîner LP avec Chris · 09/12 Relance teaser · 27/11 Salon de Rennes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🏛️ Registre officiel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Dirigeant : Sylvain Querneau, associé fondateur (Breizh Rebond)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🌐 Web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Premier fonds breton de retournement · 46 M€ investis dans 10 PME · Prix « Best French Turnaround Investor » 2025</a:t>
            </a:r>
            <a:endParaRPr lang="en-US" sz="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678180"/>
            <a:ext cx="469239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 · LE RÉSULTAT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906780"/>
            <a:ext cx="8686800" cy="50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Trente secondes plus tard.</a:t>
            </a:r>
            <a:endParaRPr lang="en-US" sz="3000" dirty="0"/>
          </a:p>
        </p:txBody>
      </p:sp>
      <p:sp>
        <p:nvSpPr>
          <p:cNvPr id="4" name="!!fiche"/>
          <p:cNvSpPr/>
          <p:nvPr/>
        </p:nvSpPr>
        <p:spPr>
          <a:xfrm>
            <a:off x="1752448" y="1455420"/>
            <a:ext cx="8686800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!!fname"/>
          <p:cNvSpPr/>
          <p:nvPr/>
        </p:nvSpPr>
        <p:spPr>
          <a:xfrm>
            <a:off x="2008480" y="154686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</a:t>
            </a:r>
            <a:pPr indent="0" marL="0">
              <a:buNone/>
            </a:pPr>
            <a:r>
              <a:rPr lang="en-US" sz="750" b="1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🟢 LP, déjà investi (Levée Bluester Europe V)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96048" y="15925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Généré le 20 juillet 2026 · 28 secondes</a:t>
            </a:r>
            <a:endParaRPr lang="en-US" sz="690" dirty="0"/>
          </a:p>
        </p:txBody>
      </p:sp>
      <p:sp>
        <p:nvSpPr>
          <p:cNvPr id="7" name="Shape 5"/>
          <p:cNvSpPr/>
          <p:nvPr/>
        </p:nvSpPr>
        <p:spPr>
          <a:xfrm>
            <a:off x="1752448" y="1912620"/>
            <a:ext cx="86868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8480" y="2022348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8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LP, associé fondateur de Breizh Rebond, investi en son nom propre sur Bluester Europe V. Vu au dîner LP de Nantes avec Chris le 7 juillet : programmer le RDV Edelweiss 2.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2008480" y="2589276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📁 SALESFORCE</a:t>
            </a:r>
            <a:endParaRPr lang="en-US" sz="690" dirty="0"/>
          </a:p>
        </p:txBody>
      </p:sp>
      <p:sp>
        <p:nvSpPr>
          <p:cNvPr id="10" name="Text 8"/>
          <p:cNvSpPr/>
          <p:nvPr/>
        </p:nvSpPr>
        <p:spPr>
          <a:xfrm>
            <a:off x="2008480" y="279958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Responsable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3105760" y="279958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Chris Chenebault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2008480" y="299618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Prescripteur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3105760" y="299618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Chris Chenebault (salon de Rennes, nov. 2025)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2008480" y="31927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Dernier contact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3105760" y="31927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7 juillet 2026 (dîner à Nantes)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2008480" y="338937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Compte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3105760" y="338937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 (en nom propre)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2008480" y="358597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Engagements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3105760" y="358597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Levée Bluester Europe V · 200 000 €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2008480" y="386029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🕘 HISTORIQUE DE LA RELATION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2008480" y="407060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13/07/2026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3105760" y="407060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Nouvelle piste ouverte : Levée Edelweiss 2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2008480" y="42672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07/07/2026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3105760" y="426720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Dîner LP avec Chris, à Nantes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2008480" y="44637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09/12/2025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3105760" y="44637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Relance sur le teaser Bluester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2008480" y="466039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28/11/2025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3105760" y="466039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Échange : confirme étudier le teaser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008480" y="485698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27/11/2025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3105760" y="485698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 au salon de Rennes, envoi du teaser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2008480" y="51587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🏛️ REGISTRE OFFICIEL — </a:t>
            </a:r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Dirigeant : Sylvain Querneau, associé fondateur (Breizh Rebond)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6278728" y="202234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🌐 WEB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6278728" y="2232660"/>
            <a:ext cx="3904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ts val="1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Associé fondateur de 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Breizh Rebond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(Rennes), premier fonds breton de retournement, créé en 2021, spécialisé dans le financement de PME en difficulté.</a:t>
            </a:r>
            <a:endParaRPr lang="en-US" sz="780" dirty="0"/>
          </a:p>
          <a:p>
            <a:pPr marL="101600" indent="-101600">
              <a:lnSpc>
                <a:spcPts val="1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46 M€ investis dans 10 PME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tickets de 1 à 6 M€.</a:t>
            </a:r>
            <a:endParaRPr lang="en-US" sz="780" dirty="0"/>
          </a:p>
          <a:p>
            <a:pPr marL="101600" indent="-101600">
              <a:lnSpc>
                <a:spcPts val="1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Prix 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Best French Turnaround Investor »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Private Equity Exchange 2025.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278728" y="3357372"/>
            <a:ext cx="3904488" cy="566928"/>
          </a:xfrm>
          <a:prstGeom prst="roundRect">
            <a:avLst>
              <a:gd name="adj" fmla="val 8065"/>
            </a:avLst>
          </a:prstGeom>
          <a:solidFill>
            <a:srgbClr val="E9F5FB"/>
          </a:solidFill>
          <a:ln w="9525">
            <a:solidFill>
              <a:srgbClr val="B8DD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8456" y="3412236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PS. </a:t>
            </a:r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voit les PME de l'Ouest par le bas du cycle, nous par le haut : un prescripteur autant qu'un LP.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278728" y="4034028"/>
            <a:ext cx="3904488" cy="640080"/>
          </a:xfrm>
          <a:prstGeom prst="roundRect">
            <a:avLst>
              <a:gd name="adj" fmla="val 7143"/>
            </a:avLst>
          </a:prstGeom>
          <a:solidFill>
            <a:srgbClr val="FEF6E7"/>
          </a:solidFill>
          <a:ln w="9525">
            <a:solidFill>
              <a:srgbClr val="F5D9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456" y="4088892"/>
            <a:ext cx="3685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b="1" dirty="0">
                <a:solidFill>
                  <a:srgbClr val="8A5A0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⚠️ Sujets potentiellement sensibles — </a:t>
            </a:r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8A5A0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reprise récente s'est accompagnée de suppressions de postes. À ne pas aborder en ouverture.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6278728" y="4838700"/>
            <a:ext cx="731520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78728" y="48387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endParaRPr lang="en-US" sz="670" dirty="0"/>
          </a:p>
        </p:txBody>
      </p:sp>
      <p:sp>
        <p:nvSpPr>
          <p:cNvPr id="40" name="Shape 38"/>
          <p:cNvSpPr/>
          <p:nvPr/>
        </p:nvSpPr>
        <p:spPr>
          <a:xfrm>
            <a:off x="7083400" y="4838700"/>
            <a:ext cx="519379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83400" y="4838700"/>
            <a:ext cx="5193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675931" y="4838700"/>
            <a:ext cx="1261872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75931" y="4838700"/>
            <a:ext cx="1261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Registre INSEE / RNE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6278728" y="5131308"/>
            <a:ext cx="625450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78728" y="5131308"/>
            <a:ext cx="62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LinkedIn</a:t>
            </a:r>
            <a:endParaRPr lang="en-US" sz="670" dirty="0"/>
          </a:p>
        </p:txBody>
      </p:sp>
      <p:sp>
        <p:nvSpPr>
          <p:cNvPr id="46" name="Shape 44"/>
          <p:cNvSpPr/>
          <p:nvPr/>
        </p:nvSpPr>
        <p:spPr>
          <a:xfrm>
            <a:off x="6977329" y="5131308"/>
            <a:ext cx="837590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77329" y="5131308"/>
            <a:ext cx="8375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Ouest-France</a:t>
            </a:r>
            <a:endParaRPr lang="en-US" sz="670" dirty="0"/>
          </a:p>
        </p:txBody>
      </p:sp>
      <p:sp>
        <p:nvSpPr>
          <p:cNvPr id="48" name="Shape 46"/>
          <p:cNvSpPr/>
          <p:nvPr/>
        </p:nvSpPr>
        <p:spPr>
          <a:xfrm>
            <a:off x="7888072" y="5131308"/>
            <a:ext cx="1155802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88072" y="5131308"/>
            <a:ext cx="1155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Presse spécialisée</a:t>
            </a:r>
            <a:endParaRPr lang="en-US" sz="67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num"/>
          <p:cNvSpPr/>
          <p:nvPr/>
        </p:nvSpPr>
        <p:spPr>
          <a:xfrm>
            <a:off x="1752448" y="1992630"/>
            <a:ext cx="8686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spc="-300" kern="0" dirty="0">
                <a:solidFill>
                  <a:srgbClr val="049E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757782" y="4327398"/>
            <a:ext cx="867613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spc="-3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Interroger nos participations.</a:t>
            </a:r>
            <a:endParaRPr lang="en-US" sz="19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47900"/>
            <a:ext cx="11091672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2513076"/>
            <a:ext cx="11091672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295754" y="3114294"/>
            <a:ext cx="7600188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3750412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69868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50412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69868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3991204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91204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660240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0240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6127852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969868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3969868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9596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|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3969868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3969868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22012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 advTm="1500">
        <p159:morph option="byObject"/>
      </p:transition>
    </mc:Choice>
    <mc:Fallback>
      <p:transition spd="fast" advTm="15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3750412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69868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50412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69868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3991204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91204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660240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0240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6127852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969868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3969868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9596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3969868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3969868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22012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1752448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971904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752448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71904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1993240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93240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662276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2276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4129888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971904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1971904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81632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1971904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1971904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124048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1752448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843888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862176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relations bancaires rattachées au groupe BPCE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3377336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68776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487064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 prêt effectif, Tier 1 Caisse d'Épargne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5002225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93665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545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111953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lignes de financement cartographiées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6909664" y="2649931"/>
            <a:ext cx="3530498" cy="3363163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29120" y="2777947"/>
            <a:ext cx="30915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CARTOGRAPHIE CEBPL · EXTRAIT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09664" y="3052267"/>
            <a:ext cx="3530498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29120" y="3216859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 BPL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9480042" y="3216859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7129120" y="3463747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7129120" y="3463747"/>
            <a:ext cx="109728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7129120" y="3911803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 Populaire Grand Ouest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9480042" y="3911803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14,8 M€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7129120" y="4158691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7129120" y="4158691"/>
            <a:ext cx="109728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7129120" y="4606747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Crédit Agricole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9480042" y="4606747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11,3 M€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7129120" y="4853635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7129120" y="4853635"/>
            <a:ext cx="109728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7129120" y="5301691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Autres, 12 établissements</a:t>
            </a: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9480042" y="5301691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31,5 M€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129120" y="5548579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7129120" y="5548579"/>
            <a:ext cx="109728" cy="91440"/>
          </a:xfrm>
          <a:prstGeom prst="roundRect">
            <a:avLst>
              <a:gd name="adj" fmla="val 45000"/>
            </a:avLst>
          </a:prstGeom>
          <a:solidFill>
            <a:srgbClr val="9B9DA3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 advTm="400">
        <p159:morph option="byObject"/>
      </p:transition>
    </mc:Choice>
    <mc:Fallback>
      <p:transition spd="fast" advTm="4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1752448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971904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752448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71904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1993240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93240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662276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2276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4129888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971904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1971904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81632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1971904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1971904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124048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1752448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843888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862176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relations bancaires rattachées au groupe BPCE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3377336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68776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487064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 prêt effectif, Tier 1 Caisse d'Épargne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5002225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93665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545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111953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lignes de financement cartographiées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6909664" y="2649931"/>
            <a:ext cx="3530498" cy="3363163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29120" y="2777947"/>
            <a:ext cx="30915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CARTOGRAPHIE CEBPL · EXTRAIT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09664" y="3052267"/>
            <a:ext cx="3530498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29120" y="3216859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 BPL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9480042" y="3216859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7129120" y="3463747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7129120" y="3463747"/>
            <a:ext cx="2178832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7129120" y="3911803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 Populaire Grand Ouest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9480042" y="3911803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14,8 M€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7129120" y="4158691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7129120" y="4158691"/>
            <a:ext cx="1452555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7129120" y="4606747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Crédit Agricole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9480042" y="4606747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11,3 M€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7129120" y="4853635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7129120" y="4853635"/>
            <a:ext cx="1109045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7129120" y="5301691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Autres, 12 établissements</a:t>
            </a: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9480042" y="5301691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31,5 M€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129120" y="5548579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7129120" y="5548579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9B9DA3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2339340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 SORTANT D'ICI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2567940"/>
            <a:ext cx="8686800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choses, utilisables ce matin.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2339340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 SORTANT D'ICI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2567940"/>
            <a:ext cx="8686800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choses, utilisables ce matin.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52448" y="3192780"/>
            <a:ext cx="2814066" cy="739140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912468" y="3368040"/>
            <a:ext cx="249402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12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912468" y="3543300"/>
            <a:ext cx="249402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80" b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Installez CR Express</a:t>
            </a:r>
            <a:endParaRPr lang="en-US" sz="1380" dirty="0"/>
          </a:p>
        </p:txBody>
      </p:sp>
      <p:sp>
        <p:nvSpPr>
          <p:cNvPr id="7" name="Shape 5"/>
          <p:cNvSpPr/>
          <p:nvPr/>
        </p:nvSpPr>
        <p:spPr>
          <a:xfrm>
            <a:off x="4688434" y="3192780"/>
            <a:ext cx="2814066" cy="739140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8454" y="3368040"/>
            <a:ext cx="249402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12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660" dirty="0"/>
          </a:p>
        </p:txBody>
      </p:sp>
      <p:sp>
        <p:nvSpPr>
          <p:cNvPr id="9" name="Text 7"/>
          <p:cNvSpPr/>
          <p:nvPr/>
        </p:nvSpPr>
        <p:spPr>
          <a:xfrm>
            <a:off x="4848454" y="3543300"/>
            <a:ext cx="249402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80" b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Demandez un Brief Express</a:t>
            </a:r>
            <a:endParaRPr lang="en-US" sz="1380" dirty="0"/>
          </a:p>
        </p:txBody>
      </p:sp>
      <p:sp>
        <p:nvSpPr>
          <p:cNvPr id="10" name="Shape 8"/>
          <p:cNvSpPr/>
          <p:nvPr/>
        </p:nvSpPr>
        <p:spPr>
          <a:xfrm>
            <a:off x="7625182" y="3192780"/>
            <a:ext cx="2814066" cy="739140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85202" y="3368040"/>
            <a:ext cx="249402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12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7785202" y="3543300"/>
            <a:ext cx="249402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80" b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Parlez à Virtual Brain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1752448" y="4160520"/>
            <a:ext cx="86868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spc="-36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Plus on les utilise, </a:t>
            </a:r>
            <a:pPr algn="l" indent="0" marL="0">
              <a:buNone/>
            </a:pPr>
            <a:r>
              <a:rPr lang="en-US" sz="1620" b="1" spc="-36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plus ils deviennent bons.</a:t>
            </a:r>
            <a:endParaRPr lang="en-US" sz="16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279120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À 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3019806"/>
            <a:ext cx="8686800" cy="730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170"/>
              </a:lnSpc>
              <a:buNone/>
            </a:pPr>
            <a:r>
              <a:rPr lang="en-US" sz="4440" b="1" spc="-10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 questions ?</a:t>
            </a:r>
            <a:endParaRPr lang="en-US" sz="4440" dirty="0"/>
          </a:p>
        </p:txBody>
      </p:sp>
      <p:sp>
        <p:nvSpPr>
          <p:cNvPr id="4" name="Text 2"/>
          <p:cNvSpPr/>
          <p:nvPr/>
        </p:nvSpPr>
        <p:spPr>
          <a:xfrm>
            <a:off x="1752448" y="3717036"/>
            <a:ext cx="8686800" cy="143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idée, un cas d'usage ? Venez nous voir.</a:t>
            </a:r>
            <a:endParaRPr lang="en-US" sz="780" dirty="0"/>
          </a:p>
        </p:txBody>
      </p:sp>
      <p:pic>
        <p:nvPicPr>
          <p:cNvPr id="5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6263640"/>
            <a:ext cx="858907" cy="3383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2026-07-19T17:15:58Z</dcterms:created>
  <dcterms:modified xsi:type="dcterms:W3CDTF">2026-07-19T17:15:58Z</dcterms:modified>
</cp:coreProperties>
</file>