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clo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97250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899855" y="6172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Mardi 21 juillet 2026</a:t>
            </a:r>
            <a:endParaRPr lang="en-US" sz="1100" dirty="0"/>
          </a:p>
        </p:txBody>
      </p:sp>
    </p:spTree>
  </p:cSld>
  <p:clrMapOvr>
    <a:masterClrMapping/>
  </p:clrMapOvr>
  <p:transition advTm="800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clo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97250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899855" y="6172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Mardi 21 juillet 2026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548640" y="2066544"/>
            <a:ext cx="612648" cy="41148"/>
          </a:xfrm>
          <a:prstGeom prst="roundRect">
            <a:avLst>
              <a:gd name="adj" fmla="val 44444"/>
            </a:avLst>
          </a:prstGeom>
          <a:solidFill>
            <a:srgbClr val="0488C1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2331720"/>
            <a:ext cx="10515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800"/>
              </a:lnSpc>
              <a:buNone/>
            </a:pPr>
            <a:r>
              <a:rPr lang="en-US" sz="6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L'IA,</a:t>
            </a:r>
            <a:endParaRPr lang="en-US" sz="6600" dirty="0"/>
          </a:p>
          <a:p>
            <a:pPr indent="0" marL="0">
              <a:lnSpc>
                <a:spcPts val="6800"/>
              </a:lnSpc>
              <a:buNone/>
            </a:pPr>
            <a:r>
              <a:rPr lang="en-US" sz="6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concrètement.</a:t>
            </a:r>
            <a:endParaRPr lang="en-US" sz="6600" dirty="0"/>
          </a:p>
        </p:txBody>
      </p:sp>
      <p:sp>
        <p:nvSpPr>
          <p:cNvPr id="6" name="Text 3"/>
          <p:cNvSpPr/>
          <p:nvPr/>
        </p:nvSpPr>
        <p:spPr>
          <a:xfrm>
            <a:off x="548640" y="48006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nous avons construit en deux mois, et ce que vous pouvez installer en sortant d'ici.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858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BOÎTE À OUTILS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cerveau, la bibliothèque, la tuyauterie.</a:t>
            </a:r>
            <a:endParaRPr lang="en-US" sz="3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 advTm="700">
        <p159:morph option="byObject"/>
      </p:transition>
    </mc:Choice>
    <mc:Fallback>
      <p:transition spd="fast" advTm="7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858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BOÎTE À OUTILS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cerveau, la bibliothèque, la tuyauterie.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3728" y="2331720"/>
            <a:ext cx="33832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6336" y="26243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EEDE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60" y="2749052"/>
            <a:ext cx="317480" cy="317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56336" y="3355848"/>
            <a:ext cx="2798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CERVEAU DE L'OPÉRATION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856336" y="3611880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Mistral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56336" y="4050792"/>
            <a:ext cx="27980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L'IA à qui on parle, qui comprend, qui rédige. Elle suit et alimente le projet de bout en bout.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404208" y="2331720"/>
            <a:ext cx="3383280" cy="2651760"/>
          </a:xfrm>
          <a:prstGeom prst="roundRect">
            <a:avLst>
              <a:gd name="adj" fmla="val 3103"/>
            </a:avLst>
          </a:prstGeom>
          <a:solidFill>
            <a:srgbClr val="FEF7F9"/>
          </a:solidFill>
          <a:ln w="9525">
            <a:solidFill>
              <a:srgbClr val="F2BCCA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96816" y="26243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CEDF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1540" y="2749052"/>
            <a:ext cx="317480" cy="317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96816" y="3355848"/>
            <a:ext cx="2798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TUYAUTERIE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696816" y="3611880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n8n</a:t>
            </a:r>
            <a:endParaRPr lang="en-US" sz="2100" dirty="0"/>
          </a:p>
        </p:txBody>
      </p:sp>
      <p:sp>
        <p:nvSpPr>
          <p:cNvPr id="15" name="Text 11"/>
          <p:cNvSpPr/>
          <p:nvPr/>
        </p:nvSpPr>
        <p:spPr>
          <a:xfrm>
            <a:off x="4696816" y="4050792"/>
            <a:ext cx="27980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C'est elle qui les fait dialoguer.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244688" y="2331720"/>
            <a:ext cx="33832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537296" y="26243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E5F5FC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2020" y="2749052"/>
            <a:ext cx="317480" cy="3174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537296" y="3355848"/>
            <a:ext cx="2798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BIBLIOTHÈQUE</a:t>
            </a:r>
            <a:endParaRPr lang="en-US" sz="950" dirty="0"/>
          </a:p>
        </p:txBody>
      </p:sp>
      <p:sp>
        <p:nvSpPr>
          <p:cNvPr id="20" name="Text 15"/>
          <p:cNvSpPr/>
          <p:nvPr/>
        </p:nvSpPr>
        <p:spPr>
          <a:xfrm>
            <a:off x="8537296" y="3611880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endParaRPr lang="en-US" sz="2100" dirty="0"/>
          </a:p>
        </p:txBody>
      </p:sp>
      <p:sp>
        <p:nvSpPr>
          <p:cNvPr id="21" name="Text 16"/>
          <p:cNvSpPr/>
          <p:nvPr/>
        </p:nvSpPr>
        <p:spPr>
          <a:xfrm>
            <a:off x="8537296" y="4050792"/>
            <a:ext cx="27980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Comptes, contacts, historique. C'est là que tout doit finir, trié, proprement rangé.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001872" y="3657600"/>
            <a:ext cx="347472" cy="0"/>
          </a:xfrm>
          <a:prstGeom prst="line">
            <a:avLst/>
          </a:prstGeom>
          <a:noFill/>
          <a:ln w="19050">
            <a:solidFill>
              <a:srgbClr val="EA4B71"/>
            </a:solidFill>
            <a:prstDash val="solid"/>
            <a:headEnd type="oval"/>
            <a:tailEnd type="triangle"/>
          </a:ln>
        </p:spPr>
      </p:sp>
      <p:sp>
        <p:nvSpPr>
          <p:cNvPr id="23" name="Shape 18"/>
          <p:cNvSpPr/>
          <p:nvPr/>
        </p:nvSpPr>
        <p:spPr>
          <a:xfrm>
            <a:off x="7842352" y="3657600"/>
            <a:ext cx="347472" cy="0"/>
          </a:xfrm>
          <a:prstGeom prst="line">
            <a:avLst/>
          </a:prstGeom>
          <a:noFill/>
          <a:ln w="19050">
            <a:solidFill>
              <a:srgbClr val="EA4B71"/>
            </a:solidFill>
            <a:prstDash val="solid"/>
            <a:headEnd type="oval"/>
            <a:tailEnd type="triangle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anva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2779918" y="3729230"/>
            <a:ext cx="100584" cy="100584"/>
          </a:xfrm>
          <a:prstGeom prst="ellipse">
            <a:avLst/>
          </a:prstGeom>
          <a:solidFill>
            <a:srgbClr val="EA4B71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 advTm="2400">
        <p159:morph option="byObject"/>
      </p:transition>
    </mc:Choice>
    <mc:Fallback>
      <p:transition spd="fast" advTm="24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anva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3343530" y="2817504"/>
            <a:ext cx="100584" cy="100584"/>
          </a:xfrm>
          <a:prstGeom prst="ellipse">
            <a:avLst/>
          </a:prstGeom>
          <a:solidFill>
            <a:srgbClr val="EA4B71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50" advTm="60">
        <p159:morph option="byObject"/>
      </p:transition>
    </mc:Choice>
    <mc:Fallback>
      <p:transition spd="fast" advTm="6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anva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4769139" y="2817504"/>
            <a:ext cx="100584" cy="100584"/>
          </a:xfrm>
          <a:prstGeom prst="ellipse">
            <a:avLst/>
          </a:prstGeom>
          <a:solidFill>
            <a:srgbClr val="EA4B71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50" advTm="60">
        <p159:morph option="byObject"/>
      </p:transition>
    </mc:Choice>
    <mc:Fallback>
      <p:transition spd="fast" advTm="6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anva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5332751" y="4640956"/>
            <a:ext cx="100584" cy="100584"/>
          </a:xfrm>
          <a:prstGeom prst="ellipse">
            <a:avLst/>
          </a:prstGeom>
          <a:solidFill>
            <a:srgbClr val="EA4B71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50" advTm="60">
        <p159:morph option="byObject"/>
      </p:transition>
    </mc:Choice>
    <mc:Fallback>
      <p:transition spd="fast" advTm="6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anva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6758360" y="4640956"/>
            <a:ext cx="100584" cy="100584"/>
          </a:xfrm>
          <a:prstGeom prst="ellipse">
            <a:avLst/>
          </a:prstGeom>
          <a:solidFill>
            <a:srgbClr val="EA4B71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50" advTm="60">
        <p159:morph option="byObject"/>
      </p:transition>
    </mc:Choice>
    <mc:Fallback>
      <p:transition spd="fast" advTm="6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anva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7321972" y="2817504"/>
            <a:ext cx="100584" cy="100584"/>
          </a:xfrm>
          <a:prstGeom prst="ellipse">
            <a:avLst/>
          </a:prstGeom>
          <a:solidFill>
            <a:srgbClr val="EA4B71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50" advTm="60">
        <p159:morph option="byObject"/>
      </p:transition>
    </mc:Choice>
    <mc:Fallback>
      <p:transition spd="fast" advTm="6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anva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8747581" y="2817504"/>
            <a:ext cx="100584" cy="100584"/>
          </a:xfrm>
          <a:prstGeom prst="ellipse">
            <a:avLst/>
          </a:prstGeom>
          <a:solidFill>
            <a:srgbClr val="EA4B71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50" advTm="60">
        <p159:morph option="byObject"/>
      </p:transition>
    </mc:Choice>
    <mc:Fallback>
      <p:transition spd="fast" advTm="6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anva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9311193" y="3894999"/>
            <a:ext cx="100584" cy="100584"/>
          </a:xfrm>
          <a:prstGeom prst="ellipse">
            <a:avLst/>
          </a:prstGeom>
          <a:solidFill>
            <a:srgbClr val="EA4B71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50">
        <p159:morph option="byObject"/>
      </p:transition>
    </mc:Choice>
    <mc:Fallback>
      <p:transition spd="fast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858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DIAGNOSTIC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qu'on entend tous les jours.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5212080" cy="969264"/>
          </a:xfrm>
          <a:prstGeom prst="roundRect">
            <a:avLst>
              <a:gd name="adj" fmla="val 13208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2212848"/>
            <a:ext cx="4700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i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On n'a pas tous le réflexe Salesforce... ni toujours le temps. »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04672" y="2724912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950" b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 le monde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371600" y="3273552"/>
            <a:ext cx="5212080" cy="969264"/>
          </a:xfrm>
          <a:prstGeom prst="roundRect">
            <a:avLst>
              <a:gd name="adj" fmla="val 13208"/>
            </a:avLst>
          </a:prstGeom>
          <a:solidFill>
            <a:srgbClr val="E9F5FB"/>
          </a:solidFill>
          <a:ln w="9525">
            <a:solidFill>
              <a:srgbClr val="9CCFE7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627632" y="3383280"/>
            <a:ext cx="4700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i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Ce qui se dit en RDV reste chez ceux qui y étaient. »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627632" y="3895344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r" indent="0" marL="0">
              <a:buNone/>
            </a:pPr>
            <a:r>
              <a:rPr lang="en-US" sz="950" b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 et buy-out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4443984"/>
            <a:ext cx="5212080" cy="969264"/>
          </a:xfrm>
          <a:prstGeom prst="roundRect">
            <a:avLst>
              <a:gd name="adj" fmla="val 13208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" y="4553712"/>
            <a:ext cx="4700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i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Aucun moyen d'interroger nos participations d'un coup. »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04672" y="5065776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950" b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équipes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371600" y="5614416"/>
            <a:ext cx="5212080" cy="969264"/>
          </a:xfrm>
          <a:prstGeom prst="roundRect">
            <a:avLst>
              <a:gd name="adj" fmla="val 13208"/>
            </a:avLst>
          </a:prstGeom>
          <a:solidFill>
            <a:srgbClr val="E9F5FB"/>
          </a:solidFill>
          <a:ln w="9525">
            <a:solidFill>
              <a:srgbClr val="9CCFE7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627632" y="5724144"/>
            <a:ext cx="4700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i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On ne sait pas ce qui bouge chez nos LP. »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627632" y="6236208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r" indent="0" marL="0">
              <a:buNone/>
            </a:pPr>
            <a:r>
              <a:rPr lang="en-US" sz="950" b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Chris</a:t>
            </a:r>
            <a:endParaRPr lang="en-US" sz="9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858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DIAGNOSTIC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qu'on entend tous les jours.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5212080" cy="969264"/>
          </a:xfrm>
          <a:prstGeom prst="roundRect">
            <a:avLst>
              <a:gd name="adj" fmla="val 13208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2212848"/>
            <a:ext cx="4700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i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On n'a pas tous le réflexe Salesforce... ni toujours le temps. »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04672" y="2724912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950" b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 le monde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371600" y="3273552"/>
            <a:ext cx="5212080" cy="969264"/>
          </a:xfrm>
          <a:prstGeom prst="roundRect">
            <a:avLst>
              <a:gd name="adj" fmla="val 13208"/>
            </a:avLst>
          </a:prstGeom>
          <a:solidFill>
            <a:srgbClr val="E9F5FB"/>
          </a:solidFill>
          <a:ln w="9525">
            <a:solidFill>
              <a:srgbClr val="9CCFE7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627632" y="3383280"/>
            <a:ext cx="4700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i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Ce qui se dit en RDV reste chez ceux qui y étaient. »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627632" y="3895344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r" indent="0" marL="0">
              <a:buNone/>
            </a:pPr>
            <a:r>
              <a:rPr lang="en-US" sz="950" b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 et buy-out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4443984"/>
            <a:ext cx="5212080" cy="969264"/>
          </a:xfrm>
          <a:prstGeom prst="roundRect">
            <a:avLst>
              <a:gd name="adj" fmla="val 13208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" y="4553712"/>
            <a:ext cx="4700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i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Aucun moyen d'interroger nos participations d'un coup. »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04672" y="5065776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950" b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équipes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371600" y="5614416"/>
            <a:ext cx="5212080" cy="969264"/>
          </a:xfrm>
          <a:prstGeom prst="roundRect">
            <a:avLst>
              <a:gd name="adj" fmla="val 13208"/>
            </a:avLst>
          </a:prstGeom>
          <a:solidFill>
            <a:srgbClr val="E9F5FB"/>
          </a:solidFill>
          <a:ln w="9525">
            <a:solidFill>
              <a:srgbClr val="9CCFE7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627632" y="5724144"/>
            <a:ext cx="4700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i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On ne sait pas ce qui bouge chez nos LP. »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627632" y="6236208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r" indent="0" marL="0">
              <a:buNone/>
            </a:pPr>
            <a:r>
              <a:rPr lang="en-US" sz="950" b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Chris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086600" y="2514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50" kern="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SEUL SUJET</a:t>
            </a:r>
            <a:endParaRPr lang="en-US" sz="1100" dirty="0"/>
          </a:p>
        </p:txBody>
      </p:sp>
      <p:sp>
        <p:nvSpPr>
          <p:cNvPr id="17" name="!!verdict"/>
          <p:cNvSpPr/>
          <p:nvPr/>
        </p:nvSpPr>
        <p:spPr>
          <a:xfrm>
            <a:off x="7086600" y="288036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300" i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L'information est là, </a:t>
            </a:r>
            <a:pPr algn="ctr" indent="0" marL="0">
              <a:lnSpc>
                <a:spcPts val="2800"/>
              </a:lnSpc>
              <a:buNone/>
            </a:pPr>
            <a:r>
              <a:rPr lang="en-US" sz="2300" b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</a:t>
            </a:r>
            <a:pPr algn="ctr" indent="0" marL="0">
              <a:lnSpc>
                <a:spcPts val="2800"/>
              </a:lnSpc>
              <a:buNone/>
            </a:pPr>
            <a:r>
              <a:rPr lang="en-US" sz="2300" i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 à portée de main.</a:t>
            </a:r>
            <a:endParaRPr lang="en-US" sz="2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858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DIAGNOSTIC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qu'on entend tous les jours.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5212080" cy="969264"/>
          </a:xfrm>
          <a:prstGeom prst="roundRect">
            <a:avLst>
              <a:gd name="adj" fmla="val 13208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2212848"/>
            <a:ext cx="4700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i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On n'a pas tous le réflexe Salesforce... ni toujours le temps. »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04672" y="2724912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950" b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 le monde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371600" y="3273552"/>
            <a:ext cx="5212080" cy="969264"/>
          </a:xfrm>
          <a:prstGeom prst="roundRect">
            <a:avLst>
              <a:gd name="adj" fmla="val 13208"/>
            </a:avLst>
          </a:prstGeom>
          <a:solidFill>
            <a:srgbClr val="E9F5FB"/>
          </a:solidFill>
          <a:ln w="9525">
            <a:solidFill>
              <a:srgbClr val="9CCFE7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627632" y="3383280"/>
            <a:ext cx="4700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i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Ce qui se dit en RDV reste chez ceux qui y étaient. »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627632" y="3895344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r" indent="0" marL="0">
              <a:buNone/>
            </a:pPr>
            <a:r>
              <a:rPr lang="en-US" sz="950" b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 et buy-out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4443984"/>
            <a:ext cx="5212080" cy="969264"/>
          </a:xfrm>
          <a:prstGeom prst="roundRect">
            <a:avLst>
              <a:gd name="adj" fmla="val 13208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" y="4553712"/>
            <a:ext cx="4700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i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Aucun moyen d'interroger nos participations d'un coup. »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04672" y="5065776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950" b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équipes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371600" y="5614416"/>
            <a:ext cx="5212080" cy="969264"/>
          </a:xfrm>
          <a:prstGeom prst="roundRect">
            <a:avLst>
              <a:gd name="adj" fmla="val 13208"/>
            </a:avLst>
          </a:prstGeom>
          <a:solidFill>
            <a:srgbClr val="E9F5FB"/>
          </a:solidFill>
          <a:ln w="9525">
            <a:solidFill>
              <a:srgbClr val="9CCFE7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627632" y="5724144"/>
            <a:ext cx="4700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i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On ne sait pas ce qui bouge chez nos LP. »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627632" y="6236208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r" indent="0" marL="0">
              <a:buNone/>
            </a:pPr>
            <a:r>
              <a:rPr lang="en-US" sz="950" b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Chris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086600" y="2514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50" kern="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SEUL SUJET</a:t>
            </a:r>
            <a:endParaRPr lang="en-US" sz="1100" dirty="0"/>
          </a:p>
        </p:txBody>
      </p:sp>
      <p:sp>
        <p:nvSpPr>
          <p:cNvPr id="17" name="!!verdict"/>
          <p:cNvSpPr/>
          <p:nvPr/>
        </p:nvSpPr>
        <p:spPr>
          <a:xfrm>
            <a:off x="7086600" y="288036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300" i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L'information est là, </a:t>
            </a:r>
            <a:pPr algn="ctr" indent="0" marL="0">
              <a:lnSpc>
                <a:spcPts val="2800"/>
              </a:lnSpc>
              <a:buNone/>
            </a:pPr>
            <a:r>
              <a:rPr lang="en-US" sz="2300" b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</a:t>
            </a:r>
            <a:pPr algn="ctr" indent="0" marL="0">
              <a:lnSpc>
                <a:spcPts val="2800"/>
              </a:lnSpc>
              <a:buNone/>
            </a:pPr>
            <a:r>
              <a:rPr lang="en-US" sz="2300" i="1" strike="sngStrike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 à portée de main.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7086600" y="434340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outils pour la mettre à portée de main.</a:t>
            </a:r>
            <a:endParaRPr lang="en-US" sz="1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divring"/>
          <p:cNvSpPr/>
          <p:nvPr/>
        </p:nvSpPr>
        <p:spPr>
          <a:xfrm>
            <a:off x="3809848" y="822960"/>
            <a:ext cx="4572000" cy="4572000"/>
          </a:xfrm>
          <a:prstGeom prst="ellipse">
            <a:avLst/>
          </a:prstGeom>
          <a:solidFill>
            <a:srgbClr val="F7F9FB"/>
          </a:solidFill>
          <a:ln/>
        </p:spPr>
      </p:sp>
      <p:sp>
        <p:nvSpPr>
          <p:cNvPr id="3" name="!!divnum"/>
          <p:cNvSpPr/>
          <p:nvPr/>
        </p:nvSpPr>
        <p:spPr>
          <a:xfrm>
            <a:off x="0" y="1325880"/>
            <a:ext cx="1219169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914400" y="420624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compte-rendu qui s'écrit tout seul.</a:t>
            </a:r>
            <a:endParaRPr lang="en-US" sz="2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1 · APRÈS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sur le bon compte, avec le bon contact —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bref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au bon endroit.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1 · APRÈS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sur le bon compte, avec le bon contact —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bref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au bon endroit.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dictez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cartes arrivent dans votre chat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validez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1 · APRÈS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sur le bon compte, avec le bon contact —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bref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au bon endroit.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dictez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cartes arrivent dans votre chat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validez</a:t>
            </a:r>
            <a:endParaRPr lang="en-US" sz="130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457200"/>
            <a:ext cx="5145867" cy="5989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1600">
        <p159:morph option="byObject"/>
      </p:transition>
    </mc:Choice>
    <mc:Fallback>
      <p:transition spd="fast" advTm="1600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1 · APRÈS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sur le bon compte, avec le bon contact —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bref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au bon endroit.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dictez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cartes arrivent dans votre chat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validez</a:t>
            </a:r>
            <a:endParaRPr lang="en-US" sz="130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457200"/>
            <a:ext cx="5145867" cy="5989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400">
        <p159:morph option="byObject"/>
      </p:transition>
    </mc:Choice>
    <mc:Fallback>
      <p:transition spd="fast" advTm="1400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1 · APRÈS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sur le bon compte, avec le bon contact —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bref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au bon endroit.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dictez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cartes arrivent dans votre chat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validez</a:t>
            </a:r>
            <a:endParaRPr lang="en-US" sz="130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457200"/>
            <a:ext cx="5145867" cy="5989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400">
        <p159:morph option="byObject"/>
      </p:transition>
    </mc:Choice>
    <mc:Fallback>
      <p:transition spd="fast" advTm="1400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1 · APRÈS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sur le bon compte, avec le bon contact —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bref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au bon endroit.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dictez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cartes arrivent dans votre chat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validez</a:t>
            </a:r>
            <a:endParaRPr lang="en-US" sz="130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457200"/>
            <a:ext cx="5145867" cy="5989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400">
        <p159:morph option="byObject"/>
      </p:transition>
    </mc:Choice>
    <mc:Fallback>
      <p:transition spd="fast" advTm="1400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1 · APRÈS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sur le bon compte, avec le bon contact —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bref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au bon endroit.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dictez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cartes arrivent dans votre chat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validez</a:t>
            </a:r>
            <a:endParaRPr lang="en-US" sz="130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457200"/>
            <a:ext cx="5145867" cy="5989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 advTm="3000">
        <p159:morph option="byObject"/>
      </p:transition>
    </mc:Choice>
    <mc:Fallback>
      <p:transition spd="fast" advTm="3000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1 · APRÈS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sur le bon compte, avec le bon contact —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bref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au bon endroit.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dictez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cartes arrivent dans votre chat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validez</a:t>
            </a:r>
            <a:endParaRPr lang="en-US" sz="130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457200"/>
            <a:ext cx="5145867" cy="5989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 advTm="3000">
        <p159:morph option="byObject"/>
      </p:transition>
    </mc:Choice>
    <mc:Fallback>
      <p:transition spd="fast" advTm="300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1 · APRÈS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sur le bon compte, avec le bon contact —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bref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au bon endroit.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dictez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cartes arrivent dans votre chat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validez</a:t>
            </a:r>
            <a:endParaRPr lang="en-US" sz="130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457200"/>
            <a:ext cx="5145867" cy="5989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800">
        <p159:morph option="byObject"/>
      </p:transition>
    </mc:Choice>
    <mc:Fallback>
      <p:transition spd="fast" advTm="1800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1 · APRÈS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sur le bon compte, avec le bon contact —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bref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au bon endroit.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dictez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cartes arrivent dans votre chat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validez</a:t>
            </a:r>
            <a:endParaRPr lang="en-US" sz="130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457200"/>
            <a:ext cx="5145867" cy="5989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600">
        <p159:morph option="byObject"/>
      </p:transition>
    </mc:Choice>
    <mc:Fallback>
      <p:transition spd="fast" advTm="1600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1 · APRÈS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sur le bon compte, avec le bon contact —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bref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au bon endroit.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dictez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cartes arrivent dans votre chat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validez</a:t>
            </a:r>
            <a:endParaRPr lang="en-US" sz="130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457200"/>
            <a:ext cx="5145867" cy="5989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2000">
        <p159:morph option="byObject"/>
      </p:transition>
    </mc:Choice>
    <mc:Fallback>
      <p:transition spd="fast" advTm="2000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1 · APRÈS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sur le bon compte, avec le bon contact —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bref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au bon endroit.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dictez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cartes arrivent dans votre chat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validez</a:t>
            </a:r>
            <a:endParaRPr lang="en-US" sz="130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457200"/>
            <a:ext cx="5145867" cy="5989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2000">
        <p159:morph option="byObject"/>
      </p:transition>
    </mc:Choice>
    <mc:Fallback>
      <p:transition spd="fast" advTm="2000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1 · APRÈS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sur le bon compte, avec le bon contact —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bref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au bon endroit.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dictez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cartes arrivent dans votre chat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validez</a:t>
            </a:r>
            <a:endParaRPr lang="en-US" sz="130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457200"/>
            <a:ext cx="5145867" cy="5989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2600">
        <p159:morph option="byObject"/>
      </p:transition>
    </mc:Choice>
    <mc:Fallback>
      <p:transition spd="fast" advTm="2600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1 · APRÈS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sur le bon compte, avec le bon contact —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bref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au bon endroit.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dictez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cartes arrivent dans votre chat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validez</a:t>
            </a:r>
            <a:endParaRPr lang="en-US" sz="130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457200"/>
            <a:ext cx="5145867" cy="5989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2000">
        <p159:morph option="byObject"/>
      </p:transition>
    </mc:Choice>
    <mc:Fallback>
      <p:transition spd="fast" advTm="2000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1 · APRÈS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sur le bon compte, avec le bon contact —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bref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au bon endroit.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dictez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cartes arrivent dans votre chat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validez</a:t>
            </a:r>
            <a:endParaRPr lang="en-US" sz="130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457200"/>
            <a:ext cx="5145867" cy="5989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2200">
        <p159:morph option="byObject"/>
      </p:transition>
    </mc:Choice>
    <mc:Fallback>
      <p:transition spd="fast" advTm="2200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1 · APRÈS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sur le bon compte, avec le bon contact —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bref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au bon endroit.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dictez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cartes arrivent dans votre chat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validez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534924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50"/>
              </a:lnSpc>
              <a:buNone/>
            </a:pPr>
            <a:r>
              <a:rPr lang="en-US" sz="1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Zéro saisie Salesforce. </a:t>
            </a:r>
            <a:pPr indent="0" marL="0">
              <a:lnSpc>
                <a:spcPts val="2050"/>
              </a:lnSpc>
              <a:buNone/>
            </a:pPr>
            <a:r>
              <a:rPr lang="en-US" sz="16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parlez, vous validez, c'est rangé.</a:t>
            </a:r>
            <a:endParaRPr lang="en-US" sz="1600" dirty="0"/>
          </a:p>
        </p:txBody>
      </p:sp>
      <p:pic>
        <p:nvPicPr>
          <p:cNvPr id="15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457200"/>
            <a:ext cx="5145867" cy="5989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divring"/>
          <p:cNvSpPr/>
          <p:nvPr/>
        </p:nvSpPr>
        <p:spPr>
          <a:xfrm>
            <a:off x="3809848" y="822960"/>
            <a:ext cx="4572000" cy="4572000"/>
          </a:xfrm>
          <a:prstGeom prst="ellipse">
            <a:avLst/>
          </a:prstGeom>
          <a:solidFill>
            <a:srgbClr val="F7F9FB"/>
          </a:solidFill>
          <a:ln/>
        </p:spPr>
      </p:sp>
      <p:sp>
        <p:nvSpPr>
          <p:cNvPr id="3" name="!!divnum"/>
          <p:cNvSpPr/>
          <p:nvPr/>
        </p:nvSpPr>
        <p:spPr>
          <a:xfrm>
            <a:off x="0" y="1325880"/>
            <a:ext cx="1219169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914400" y="420624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Arriver prêt, sans rien préparer.</a:t>
            </a:r>
            <a:endParaRPr lang="en-US" sz="2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2 · AVANT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Express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9h21, vous voyez un LP dans 20 minutes. Une phrase dans Teams : il relit d'abord tout ce que notre Salesforce sait déjà de lui, puis enrichit avec ce qui se dit dehors :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CFnews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presse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registres officiels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LinkedIn aussi, à prendre avec un peu de recul. Vous arrivez préparé, sans rien avoir ouvert.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2 · AVANT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Express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9h21, vous voyez un LP dans 20 minutes. Une phrase dans Teams : il relit d'abord tout ce que notre Salesforce sait déjà de lui, puis enrichit avec ce qui se dit dehors :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CFnews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presse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registres officiels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LinkedIn aussi, à prendre avec un peu de recul. Vous arrivez préparé, sans rien avoir ouvert.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écrivez comme vous parlez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lit notre Salesforce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Puis il enrichit : CFnews, presse, registres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534924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50"/>
              </a:lnSpc>
              <a:buNone/>
            </a:pPr>
            <a:r>
              <a:rPr lang="en-US" sz="1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ne fait que lire. </a:t>
            </a:r>
            <a:pPr indent="0" marL="0">
              <a:lnSpc>
                <a:spcPts val="2050"/>
              </a:lnSpc>
              <a:buNone/>
            </a:pPr>
            <a:r>
              <a:rPr lang="en-US" sz="16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phrase, trente secondes, vous arrivez préparé.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2 · AVANT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Express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9h21, vous voyez un LP dans 20 minutes. Une phrase dans Teams : il relit d'abord tout ce que notre Salesforce sait déjà de lui, puis enrichit avec ce qui se dit dehors :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CFnews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presse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registres officiels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LinkedIn aussi, à prendre avec un peu de recul. Vous arrivez préparé, sans rien avoir ouvert.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écrivez comme vous parlez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lit notre Salesforce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Puis il enrichit : CFnews, presse, registres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534924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50"/>
              </a:lnSpc>
              <a:buNone/>
            </a:pPr>
            <a:r>
              <a:rPr lang="en-US" sz="1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ne fait que lire. </a:t>
            </a:r>
            <a:pPr indent="0" marL="0">
              <a:lnSpc>
                <a:spcPts val="2050"/>
              </a:lnSpc>
              <a:buNone/>
            </a:pPr>
            <a:r>
              <a:rPr lang="en-US" sz="16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phrase, trente secondes, vous arrivez préparé.</a:t>
            </a:r>
            <a:endParaRPr lang="en-US" sz="1600" dirty="0"/>
          </a:p>
        </p:txBody>
      </p:sp>
      <p:pic>
        <p:nvPicPr>
          <p:cNvPr id="15" name="!!phone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457200"/>
            <a:ext cx="5601981" cy="5989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1800">
        <p159:morph option="byObject"/>
      </p:transition>
    </mc:Choice>
    <mc:Fallback>
      <p:transition spd="fast" advTm="1800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2 · AVANT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Express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9h21, vous voyez un LP dans 20 minutes. Une phrase dans Teams : il relit d'abord tout ce que notre Salesforce sait déjà de lui, puis enrichit avec ce qui se dit dehors :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CFnews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presse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registres officiels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LinkedIn aussi, à prendre avec un peu de recul. Vous arrivez préparé, sans rien avoir ouvert.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écrivez comme vous parlez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lit notre Salesforce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Puis il enrichit : CFnews, presse, registres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534924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50"/>
              </a:lnSpc>
              <a:buNone/>
            </a:pPr>
            <a:r>
              <a:rPr lang="en-US" sz="1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ne fait que lire. </a:t>
            </a:r>
            <a:pPr indent="0" marL="0">
              <a:lnSpc>
                <a:spcPts val="2050"/>
              </a:lnSpc>
              <a:buNone/>
            </a:pPr>
            <a:r>
              <a:rPr lang="en-US" sz="16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phrase, trente secondes, vous arrivez préparé.</a:t>
            </a:r>
            <a:endParaRPr lang="en-US" sz="1600" dirty="0"/>
          </a:p>
        </p:txBody>
      </p:sp>
      <p:pic>
        <p:nvPicPr>
          <p:cNvPr id="15" name="!!phone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457200"/>
            <a:ext cx="5601981" cy="5989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2400">
        <p159:morph option="byObject"/>
      </p:transition>
    </mc:Choice>
    <mc:Fallback>
      <p:transition spd="fast" advTm="2400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2 · AVANT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Express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9h21, vous voyez un LP dans 20 minutes. Une phrase dans Teams : il relit d'abord tout ce que notre Salesforce sait déjà de lui, puis enrichit avec ce qui se dit dehors :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CFnews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presse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registres officiels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LinkedIn aussi, à prendre avec un peu de recul. Vous arrivez préparé, sans rien avoir ouvert.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écrivez comme vous parlez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lit notre Salesforce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Puis il enrichit : CFnews, presse, registres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534924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50"/>
              </a:lnSpc>
              <a:buNone/>
            </a:pPr>
            <a:r>
              <a:rPr lang="en-US" sz="1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ne fait que lire. </a:t>
            </a:r>
            <a:pPr indent="0" marL="0">
              <a:lnSpc>
                <a:spcPts val="2050"/>
              </a:lnSpc>
              <a:buNone/>
            </a:pPr>
            <a:r>
              <a:rPr lang="en-US" sz="16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phrase, trente secondes, vous arrivez préparé.</a:t>
            </a:r>
            <a:endParaRPr lang="en-US" sz="1600" dirty="0"/>
          </a:p>
        </p:txBody>
      </p:sp>
      <p:pic>
        <p:nvPicPr>
          <p:cNvPr id="15" name="!!phone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457200"/>
            <a:ext cx="5601981" cy="5989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400">
        <p159:morph option="byObject"/>
      </p:transition>
    </mc:Choice>
    <mc:Fallback>
      <p:transition spd="fast" advTm="1400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2 · AVANT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Express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9h21, vous voyez un LP dans 20 minutes. Une phrase dans Teams : il relit d'abord tout ce que notre Salesforce sait déjà de lui, puis enrichit avec ce qui se dit dehors :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CFnews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presse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registres officiels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LinkedIn aussi, à prendre avec un peu de recul. Vous arrivez préparé, sans rien avoir ouvert.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écrivez comme vous parlez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lit notre Salesforce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Puis il enrichit : CFnews, presse, registres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534924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50"/>
              </a:lnSpc>
              <a:buNone/>
            </a:pPr>
            <a:r>
              <a:rPr lang="en-US" sz="1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ne fait que lire. </a:t>
            </a:r>
            <a:pPr indent="0" marL="0">
              <a:lnSpc>
                <a:spcPts val="2050"/>
              </a:lnSpc>
              <a:buNone/>
            </a:pPr>
            <a:r>
              <a:rPr lang="en-US" sz="16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phrase, trente secondes, vous arrivez préparé.</a:t>
            </a:r>
            <a:endParaRPr lang="en-US" sz="1600" dirty="0"/>
          </a:p>
        </p:txBody>
      </p:sp>
      <p:pic>
        <p:nvPicPr>
          <p:cNvPr id="15" name="!!phone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457200"/>
            <a:ext cx="5601981" cy="5989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2200">
        <p159:morph option="byObject"/>
      </p:transition>
    </mc:Choice>
    <mc:Fallback>
      <p:transition spd="fast" advTm="2200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2 · AVANT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Express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9h21, vous voyez un LP dans 20 minutes. Une phrase dans Teams : il relit d'abord tout ce que notre Salesforce sait déjà de lui, puis enrichit avec ce qui se dit dehors :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CFnews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presse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ts val="1650"/>
              </a:lnSpc>
              <a:buNone/>
            </a:pPr>
            <a:r>
              <a:rPr lang="en-US" sz="12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registres officiels</a:t>
            </a:r>
            <a:pPr indent="0" marL="0">
              <a:lnSpc>
                <a:spcPts val="1650"/>
              </a:lnSpc>
              <a:buNone/>
            </a:pPr>
            <a:r>
              <a:rPr lang="en-US" sz="12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LinkedIn aussi, à prendre avec un peu de recul. Vous arrivez préparé, sans rien avoir ouvert.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écrivez comme vous parlez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3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41193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lit notre Salesforce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5948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Puis il enrichit : CFnews, presse, registres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534924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50"/>
              </a:lnSpc>
              <a:buNone/>
            </a:pPr>
            <a:r>
              <a:rPr lang="en-US" sz="1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ne fait que lire. </a:t>
            </a:r>
            <a:pPr indent="0" marL="0">
              <a:lnSpc>
                <a:spcPts val="2050"/>
              </a:lnSpc>
              <a:buNone/>
            </a:pPr>
            <a:r>
              <a:rPr lang="en-US" sz="16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phrase, trente secondes, vous arrivez préparé.</a:t>
            </a:r>
            <a:endParaRPr lang="en-US" sz="1600" dirty="0"/>
          </a:p>
        </p:txBody>
      </p:sp>
      <p:pic>
        <p:nvPicPr>
          <p:cNvPr id="15" name="!!phone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457200"/>
            <a:ext cx="5601981" cy="5989320"/>
          </a:xfrm>
          <a:prstGeom prst="rect">
            <a:avLst/>
          </a:prstGeom>
        </p:spPr>
      </p:pic>
      <p:sp>
        <p:nvSpPr>
          <p:cNvPr id="16" name="!!fiche"/>
          <p:cNvSpPr/>
          <p:nvPr/>
        </p:nvSpPr>
        <p:spPr>
          <a:xfrm>
            <a:off x="7346290" y="1238098"/>
            <a:ext cx="2648102" cy="4736592"/>
          </a:xfrm>
          <a:prstGeom prst="roundRect">
            <a:avLst>
              <a:gd name="adj" fmla="val 3108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17" name="!!fname"/>
          <p:cNvSpPr/>
          <p:nvPr/>
        </p:nvSpPr>
        <p:spPr>
          <a:xfrm>
            <a:off x="7456018" y="1292962"/>
            <a:ext cx="24286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Sylvain QUERNEAU</a:t>
            </a:r>
            <a:pPr indent="0" marL="0">
              <a:buNone/>
            </a:pPr>
            <a:r>
              <a:rPr lang="en-US" sz="550" b="1" dirty="0">
                <a:solidFill>
                  <a:srgbClr val="0E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🟢 LP, déjà investi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7456018" y="1548994"/>
            <a:ext cx="242864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50"/>
              </a:lnSpc>
              <a:buNone/>
            </a:pPr>
            <a:r>
              <a:rPr lang="en-US" sz="55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Sylvain Querneau est LP, associé fondateur de Breizh Rebond, investi en son nom propre : 200 000 € sur Bluester Europe V, clos le 27/11/2025. Dernier échange : dîner LP avec Chris à Nantes, le 7 juillet. Prochaine étape : programmer le RDV Edelweiss 2.</a:t>
            </a:r>
            <a:endParaRPr lang="en-US" sz="550" dirty="0"/>
          </a:p>
        </p:txBody>
      </p:sp>
      <p:sp>
        <p:nvSpPr>
          <p:cNvPr id="19" name="Text 16"/>
          <p:cNvSpPr/>
          <p:nvPr/>
        </p:nvSpPr>
        <p:spPr>
          <a:xfrm>
            <a:off x="7456018" y="2335378"/>
            <a:ext cx="2428646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50"/>
              </a:lnSpc>
              <a:spcAft>
                <a:spcPts val="200"/>
              </a:spcAft>
              <a:buNone/>
            </a:pPr>
            <a:r>
              <a:rPr lang="en-US" sz="550" b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📁 Salesforce</a:t>
            </a:r>
            <a:endParaRPr lang="en-US" sz="550" dirty="0"/>
          </a:p>
          <a:p>
            <a:pPr indent="0" marL="0">
              <a:lnSpc>
                <a:spcPts val="750"/>
              </a:lnSpc>
              <a:spcAft>
                <a:spcPts val="200"/>
              </a:spcAft>
              <a:buNone/>
            </a:pPr>
            <a:r>
              <a:rPr lang="en-US" sz="55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Responsable : Chris Chenebault · Dernier contact : 7 juillet (dîner à Nantes) · Engagements : Levée Bluester Europe V (200 000 €)</a:t>
            </a:r>
            <a:endParaRPr lang="en-US" sz="550" dirty="0"/>
          </a:p>
          <a:p>
            <a:pPr indent="0" marL="0">
              <a:lnSpc>
                <a:spcPts val="750"/>
              </a:lnSpc>
              <a:spcAft>
                <a:spcPts val="200"/>
              </a:spcAft>
              <a:buNone/>
            </a:pPr>
            <a:r>
              <a:rPr lang="en-US" sz="550" b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🕘 Historique</a:t>
            </a:r>
            <a:endParaRPr lang="en-US" sz="550" dirty="0"/>
          </a:p>
          <a:p>
            <a:pPr indent="0" marL="0">
              <a:lnSpc>
                <a:spcPts val="750"/>
              </a:lnSpc>
              <a:spcAft>
                <a:spcPts val="200"/>
              </a:spcAft>
              <a:buNone/>
            </a:pPr>
            <a:r>
              <a:rPr lang="en-US" sz="55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13/07 Nouvelle piste : Levée Edelweiss 2 · 07/07 Dîner LP avec Chris · 09/12 Relance teaser · 27/11 Salon de Rennes</a:t>
            </a:r>
            <a:endParaRPr lang="en-US" sz="550" dirty="0"/>
          </a:p>
          <a:p>
            <a:pPr indent="0" marL="0">
              <a:lnSpc>
                <a:spcPts val="750"/>
              </a:lnSpc>
              <a:spcAft>
                <a:spcPts val="200"/>
              </a:spcAft>
              <a:buNone/>
            </a:pPr>
            <a:r>
              <a:rPr lang="en-US" sz="550" b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🏛️ Registre officiel</a:t>
            </a:r>
            <a:endParaRPr lang="en-US" sz="550" dirty="0"/>
          </a:p>
          <a:p>
            <a:pPr indent="0" marL="0">
              <a:lnSpc>
                <a:spcPts val="750"/>
              </a:lnSpc>
              <a:spcAft>
                <a:spcPts val="200"/>
              </a:spcAft>
              <a:buNone/>
            </a:pPr>
            <a:r>
              <a:rPr lang="en-US" sz="5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Dirigeant : Sylvain Querneau, associé fondateur (Breizh Rebond)</a:t>
            </a:r>
            <a:endParaRPr lang="en-US" sz="550" dirty="0"/>
          </a:p>
          <a:p>
            <a:pPr indent="0" marL="0">
              <a:lnSpc>
                <a:spcPts val="750"/>
              </a:lnSpc>
              <a:spcAft>
                <a:spcPts val="200"/>
              </a:spcAft>
              <a:buNone/>
            </a:pPr>
            <a:r>
              <a:rPr lang="en-US" sz="550" b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Web</a:t>
            </a:r>
            <a:endParaRPr lang="en-US" sz="550" dirty="0"/>
          </a:p>
          <a:p>
            <a:pPr indent="0" marL="0">
              <a:lnSpc>
                <a:spcPts val="750"/>
              </a:lnSpc>
              <a:spcAft>
                <a:spcPts val="200"/>
              </a:spcAft>
              <a:buNone/>
            </a:pPr>
            <a:r>
              <a:rPr lang="en-US" sz="55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Premier fonds breton de retournement · 46 M€ investis dans 10 PME · Prix « Best French Turnaround Investor » 2025</a:t>
            </a:r>
            <a:endParaRPr lang="en-US" sz="5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1600">
        <p159:morph option="byObject"/>
      </p:transition>
    </mc:Choice>
    <mc:Fallback>
      <p:transition spd="fast" advTm="1600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EXPRESS · LE RÉSULTAT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Trente secondes plus tard.</a:t>
            </a:r>
            <a:endParaRPr lang="en-US" sz="2500" dirty="0"/>
          </a:p>
        </p:txBody>
      </p:sp>
      <p:sp>
        <p:nvSpPr>
          <p:cNvPr id="4" name="!!fiche"/>
          <p:cNvSpPr/>
          <p:nvPr/>
        </p:nvSpPr>
        <p:spPr>
          <a:xfrm>
            <a:off x="548640" y="1371600"/>
            <a:ext cx="11091672" cy="5120640"/>
          </a:xfrm>
          <a:prstGeom prst="roundRect">
            <a:avLst>
              <a:gd name="adj" fmla="val 1607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5" name="!!fname"/>
          <p:cNvSpPr/>
          <p:nvPr/>
        </p:nvSpPr>
        <p:spPr>
          <a:xfrm>
            <a:off x="868680" y="1499616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Sylvain QUERNEAU</a:t>
            </a:r>
            <a:pPr indent="0" marL="0">
              <a:buNone/>
            </a:pPr>
            <a:r>
              <a:rPr lang="en-US" sz="1050" b="1" dirty="0">
                <a:solidFill>
                  <a:srgbClr val="0E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🟢 LP, déjà investi (Levée Bluester Europe V)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348472" y="155448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Généré le 20 juillet 2026 · 28 secondes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938528"/>
            <a:ext cx="11091672" cy="0"/>
          </a:xfrm>
          <a:prstGeom prst="line">
            <a:avLst/>
          </a:prstGeom>
          <a:noFill/>
          <a:ln w="9525">
            <a:solidFill>
              <a:srgbClr val="E6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084832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LP, associé fondateur de Breizh Rebond, investi en son nom propre sur Bluester Europe V. Vu au dîner LP de Nantes avec Chris le 7 juillet : programmer le RDV Edelweiss 2.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68680" y="274320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📁 SALESFORCE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68680" y="2999232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240280" y="299923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Chris Chenebault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68680" y="3246120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Prescripteur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240280" y="324612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Chris Chenebault (salon de Rennes, nov. 2025)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68680" y="349300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Dernier contact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240280" y="3493008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7 juillet 2026 (dîner à Nantes)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68680" y="373989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240280" y="3739896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Sylvain Querneau (en nom propre)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68680" y="3986784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Engagements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240280" y="398678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Levée Bluester Europe V · 200 000 €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68680" y="434340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🕘 HISTORIQUE DE LA RELATION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68680" y="4599432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13/07/2026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240280" y="459943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Nouvelle piste ouverte : Levée Edelweiss 2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68680" y="4846320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07/07/2026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240280" y="484632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Dîner LP avec Chris, à Nantes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68680" y="509320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09/12/2025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240280" y="5093208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Relance sur le teaser Bluester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68680" y="534009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28/11/2025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240280" y="5340096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Échange : confirme étudier le teaser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68680" y="5586984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27/11/2025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240280" y="558698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 au salon de Rennes, envoi du teaser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68680" y="58978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b="1" spc="100" kern="0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🏛️ REGISTRE OFFICIEL — </a:t>
            </a:r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Dirigeant : Sylvain Querneau, associé fondateur (Breizh Rebond)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355080" y="208483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WEB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355080" y="2340864"/>
            <a:ext cx="4983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25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Associé fondateur de </a:t>
            </a:r>
            <a:pPr indent="0" marL="0">
              <a:lnSpc>
                <a:spcPts val="1250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Breizh Rebond</a:t>
            </a:r>
            <a:pPr indent="0" marL="0">
              <a:lnSpc>
                <a:spcPts val="125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(Rennes), premier fonds breton de retournement, créé en 2021, spécialisé dans le financement de PME en difficulté.</a:t>
            </a:r>
            <a:endParaRPr lang="en-US" sz="950" dirty="0"/>
          </a:p>
          <a:p>
            <a:pPr marL="127000" indent="-127000">
              <a:lnSpc>
                <a:spcPts val="1250"/>
              </a:lnSpc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M€ investis dans 10 PME</a:t>
            </a:r>
            <a:pPr indent="0" marL="0">
              <a:lnSpc>
                <a:spcPts val="125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tickets de 1 à 6 M€.</a:t>
            </a:r>
            <a:endParaRPr lang="en-US" sz="950" dirty="0"/>
          </a:p>
          <a:p>
            <a:pPr marL="127000" indent="-127000">
              <a:lnSpc>
                <a:spcPts val="125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Prix </a:t>
            </a:r>
            <a:pPr indent="0" marL="0">
              <a:lnSpc>
                <a:spcPts val="1250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Best French Turnaround Investor »</a:t>
            </a:r>
            <a:pPr indent="0" marL="0">
              <a:lnSpc>
                <a:spcPts val="125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Private Equity Exchange 2025.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355080" y="3703320"/>
            <a:ext cx="4983480" cy="713232"/>
          </a:xfrm>
          <a:prstGeom prst="roundRect">
            <a:avLst>
              <a:gd name="adj" fmla="val 7692"/>
            </a:avLst>
          </a:prstGeom>
          <a:solidFill>
            <a:srgbClr val="E9F5FB"/>
          </a:solidFill>
          <a:ln w="9525">
            <a:solidFill>
              <a:srgbClr val="B8DDE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92240" y="3776472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PS. </a:t>
            </a:r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voit les PME de l'Ouest par le bas du cycle, nous par le haut : un prescripteur autant qu'un LP.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355080" y="4553712"/>
            <a:ext cx="4983480" cy="804672"/>
          </a:xfrm>
          <a:prstGeom prst="roundRect">
            <a:avLst>
              <a:gd name="adj" fmla="val 6818"/>
            </a:avLst>
          </a:prstGeom>
          <a:solidFill>
            <a:srgbClr val="FEF6E7"/>
          </a:solidFill>
          <a:ln w="9525">
            <a:solidFill>
              <a:srgbClr val="F5D9A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92240" y="4626864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8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Sujets potentiellement sensibles — </a:t>
            </a:r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8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reprise récente s'est accompagnée de suppressions de postes. À ne pas aborder en ouverture.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355080" y="5559552"/>
            <a:ext cx="859536" cy="274320"/>
          </a:xfrm>
          <a:prstGeom prst="roundRect">
            <a:avLst>
              <a:gd name="adj" fmla="val 13333"/>
            </a:avLst>
          </a:prstGeom>
          <a:solidFill>
            <a:srgbClr val="F7F9FB"/>
          </a:solidFill>
          <a:ln w="9525">
            <a:solidFill>
              <a:srgbClr val="E6E8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55080" y="5559552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7306056" y="5559552"/>
            <a:ext cx="610819" cy="274320"/>
          </a:xfrm>
          <a:prstGeom prst="roundRect">
            <a:avLst>
              <a:gd name="adj" fmla="val 13333"/>
            </a:avLst>
          </a:prstGeom>
          <a:solidFill>
            <a:srgbClr val="F7F9FB"/>
          </a:solidFill>
          <a:ln w="9525">
            <a:solidFill>
              <a:srgbClr val="E6E8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06056" y="5559552"/>
            <a:ext cx="6108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CFnews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8008315" y="5559552"/>
            <a:ext cx="1481328" cy="274320"/>
          </a:xfrm>
          <a:prstGeom prst="roundRect">
            <a:avLst>
              <a:gd name="adj" fmla="val 13333"/>
            </a:avLst>
          </a:prstGeom>
          <a:solidFill>
            <a:srgbClr val="F7F9FB"/>
          </a:solidFill>
          <a:ln w="9525">
            <a:solidFill>
              <a:srgbClr val="E6E8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008315" y="5559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Registre INSEE / RNE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355080" y="5907024"/>
            <a:ext cx="735178" cy="274320"/>
          </a:xfrm>
          <a:prstGeom prst="roundRect">
            <a:avLst>
              <a:gd name="adj" fmla="val 13333"/>
            </a:avLst>
          </a:prstGeom>
          <a:solidFill>
            <a:srgbClr val="F7F9FB"/>
          </a:solidFill>
          <a:ln w="9525">
            <a:solidFill>
              <a:srgbClr val="E6E8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55080" y="5907024"/>
            <a:ext cx="73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7181698" y="5907024"/>
            <a:ext cx="983894" cy="274320"/>
          </a:xfrm>
          <a:prstGeom prst="roundRect">
            <a:avLst>
              <a:gd name="adj" fmla="val 13333"/>
            </a:avLst>
          </a:prstGeom>
          <a:solidFill>
            <a:srgbClr val="F7F9FB"/>
          </a:solidFill>
          <a:ln w="9525">
            <a:solidFill>
              <a:srgbClr val="E6E8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81698" y="5907024"/>
            <a:ext cx="9838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Ouest-France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8257032" y="5907024"/>
            <a:ext cx="1356970" cy="274320"/>
          </a:xfrm>
          <a:prstGeom prst="roundRect">
            <a:avLst>
              <a:gd name="adj" fmla="val 13333"/>
            </a:avLst>
          </a:prstGeom>
          <a:solidFill>
            <a:srgbClr val="F7F9FB"/>
          </a:solidFill>
          <a:ln w="9525">
            <a:solidFill>
              <a:srgbClr val="E6E8E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57032" y="5907024"/>
            <a:ext cx="1356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Presse spécialisée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fast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divring"/>
          <p:cNvSpPr/>
          <p:nvPr/>
        </p:nvSpPr>
        <p:spPr>
          <a:xfrm>
            <a:off x="3809848" y="822960"/>
            <a:ext cx="4572000" cy="4572000"/>
          </a:xfrm>
          <a:prstGeom prst="ellipse">
            <a:avLst/>
          </a:prstGeom>
          <a:solidFill>
            <a:srgbClr val="F7F9FB"/>
          </a:solidFill>
          <a:ln/>
        </p:spPr>
      </p:sp>
      <p:sp>
        <p:nvSpPr>
          <p:cNvPr id="3" name="!!divnum"/>
          <p:cNvSpPr/>
          <p:nvPr/>
        </p:nvSpPr>
        <p:spPr>
          <a:xfrm>
            <a:off x="0" y="1325880"/>
            <a:ext cx="1219169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914400" y="420624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Interroger nos participations.</a:t>
            </a:r>
            <a:endParaRPr lang="en-US" sz="2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3 · VIRTUAL BRAIN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577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question sur nos participations 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121408"/>
            <a:ext cx="5394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 venu de l'équipe IR : des agents qui vont chercher, systématiquement, la même information dans chacune de nos participations, données sensibles comprises. Ici, la cartographie bancaire : deux régions, une banque, l'analyse tombe.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3 · VIRTUAL BRAIN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577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question sur nos participations 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121408"/>
            <a:ext cx="5394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 venu de l'équipe IR : des agents qui vont chercher, systématiquement, la même information dans chacune de nos participations, données sensibles comprises. Ici, la cartographie bancaire : deux régions, une banque, l'analyse tombe.</a:t>
            </a:r>
            <a:endParaRPr lang="en-US" sz="1250" dirty="0"/>
          </a:p>
        </p:txBody>
      </p:sp>
      <p:sp>
        <p:nvSpPr>
          <p:cNvPr id="5" name="!!app"/>
          <p:cNvSpPr/>
          <p:nvPr/>
        </p:nvSpPr>
        <p:spPr>
          <a:xfrm>
            <a:off x="548640" y="3520440"/>
            <a:ext cx="502920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366674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E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150" b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Brain · L'app régions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4014216"/>
            <a:ext cx="5029200" cy="0"/>
          </a:xfrm>
          <a:prstGeom prst="line">
            <a:avLst/>
          </a:prstGeom>
          <a:noFill/>
          <a:ln w="9525">
            <a:solidFill>
              <a:srgbClr val="E6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142232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RÉGIONS · SÉLECTION MULTIPLE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22960" y="4398264"/>
            <a:ext cx="987552" cy="329184"/>
          </a:xfrm>
          <a:prstGeom prst="roundRect">
            <a:avLst>
              <a:gd name="adj" fmla="val 16667"/>
            </a:avLst>
          </a:prstGeom>
          <a:solidFill>
            <a:srgbClr val="E9F5FB"/>
          </a:solidFill>
          <a:ln w="9525">
            <a:solidFill>
              <a:srgbClr val="0488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4398264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Bretagne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331720" y="4398264"/>
            <a:ext cx="1609344" cy="329184"/>
          </a:xfrm>
          <a:prstGeom prst="roundRect">
            <a:avLst>
              <a:gd name="adj" fmla="val 16667"/>
            </a:avLst>
          </a:prstGeom>
          <a:solidFill>
            <a:srgbClr val="E9F5FB"/>
          </a:solidFill>
          <a:ln w="9525">
            <a:solidFill>
              <a:srgbClr val="0488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31720" y="4398264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Pays de la Loire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0" y="4434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+ 11 autres régions disponibles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22960" y="4873752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BANQUE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822960" y="5129784"/>
            <a:ext cx="4480560" cy="365760"/>
          </a:xfrm>
          <a:prstGeom prst="roundRect">
            <a:avLst>
              <a:gd name="adj" fmla="val 12500"/>
            </a:avLst>
          </a:prstGeom>
          <a:solidFill>
            <a:srgbClr val="F7F9FB"/>
          </a:solidFill>
          <a:ln w="9525">
            <a:solidFill>
              <a:srgbClr val="D2D6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512978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5660136"/>
            <a:ext cx="1371600" cy="384048"/>
          </a:xfrm>
          <a:prstGeom prst="roundRect">
            <a:avLst>
              <a:gd name="adj" fmla="val 14286"/>
            </a:avLst>
          </a:prstGeom>
          <a:solidFill>
            <a:srgbClr val="0488C1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66013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377440" y="57150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Bretagne + Pays de la Loire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 advTm="1500">
        <p159:morph option="byObject"/>
      </p:transition>
    </mc:Choice>
    <mc:Fallback>
      <p:transition spd="fast" advTm="1500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3 · VIRTUAL BRAIN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577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question sur nos participations 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121408"/>
            <a:ext cx="5394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 venu de l'équipe IR : des agents qui vont chercher, systématiquement, la même information dans chacune de nos participations, données sensibles comprises. Ici, la cartographie bancaire : deux régions, une banque, l'analyse tombe.</a:t>
            </a:r>
            <a:endParaRPr lang="en-US" sz="1250" dirty="0"/>
          </a:p>
        </p:txBody>
      </p:sp>
      <p:sp>
        <p:nvSpPr>
          <p:cNvPr id="5" name="!!app"/>
          <p:cNvSpPr/>
          <p:nvPr/>
        </p:nvSpPr>
        <p:spPr>
          <a:xfrm>
            <a:off x="548640" y="3520440"/>
            <a:ext cx="502920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366674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E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150" b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Brain · L'app régions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4014216"/>
            <a:ext cx="5029200" cy="0"/>
          </a:xfrm>
          <a:prstGeom prst="line">
            <a:avLst/>
          </a:prstGeom>
          <a:noFill/>
          <a:ln w="9525">
            <a:solidFill>
              <a:srgbClr val="E6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142232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RÉGIONS · SÉLECTION MULTIPLE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22960" y="4398264"/>
            <a:ext cx="987552" cy="329184"/>
          </a:xfrm>
          <a:prstGeom prst="roundRect">
            <a:avLst>
              <a:gd name="adj" fmla="val 16667"/>
            </a:avLst>
          </a:prstGeom>
          <a:solidFill>
            <a:srgbClr val="E9F5FB"/>
          </a:solidFill>
          <a:ln w="9525">
            <a:solidFill>
              <a:srgbClr val="0488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4398264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Bretagne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331720" y="4398264"/>
            <a:ext cx="1609344" cy="329184"/>
          </a:xfrm>
          <a:prstGeom prst="roundRect">
            <a:avLst>
              <a:gd name="adj" fmla="val 16667"/>
            </a:avLst>
          </a:prstGeom>
          <a:solidFill>
            <a:srgbClr val="E9F5FB"/>
          </a:solidFill>
          <a:ln w="9525">
            <a:solidFill>
              <a:srgbClr val="0488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31720" y="4398264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Pays de la Loire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0" y="4434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+ 11 autres régions disponibles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22960" y="4873752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BANQUE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822960" y="5129784"/>
            <a:ext cx="4480560" cy="365760"/>
          </a:xfrm>
          <a:prstGeom prst="roundRect">
            <a:avLst>
              <a:gd name="adj" fmla="val 12500"/>
            </a:avLst>
          </a:prstGeom>
          <a:solidFill>
            <a:srgbClr val="F7F9FB"/>
          </a:solidFill>
          <a:ln w="9525">
            <a:solidFill>
              <a:srgbClr val="D2D6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512978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Caisse d'Épargne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5660136"/>
            <a:ext cx="1371600" cy="384048"/>
          </a:xfrm>
          <a:prstGeom prst="roundRect">
            <a:avLst>
              <a:gd name="adj" fmla="val 14286"/>
            </a:avLst>
          </a:prstGeom>
          <a:solidFill>
            <a:srgbClr val="0488C1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66013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377440" y="57150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Bretagne + Pays de la Loire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>
        <p159:morph option="byObject"/>
      </p:transition>
    </mc:Choice>
    <mc:Fallback>
      <p:transition spd="fast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3 · VIRTUAL BRAIN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577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question sur nos participations 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121408"/>
            <a:ext cx="5394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 venu de l'équipe IR : des agents qui vont chercher, systématiquement, la même information dans chacune de nos participations, données sensibles comprises. Ici, la cartographie bancaire : deux régions, une banque, l'analyse tombe.</a:t>
            </a:r>
            <a:endParaRPr lang="en-US" sz="1250" dirty="0"/>
          </a:p>
        </p:txBody>
      </p:sp>
      <p:sp>
        <p:nvSpPr>
          <p:cNvPr id="5" name="!!app"/>
          <p:cNvSpPr/>
          <p:nvPr/>
        </p:nvSpPr>
        <p:spPr>
          <a:xfrm>
            <a:off x="548640" y="3520440"/>
            <a:ext cx="502920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366674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E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150" b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Brain · L'app régions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4014216"/>
            <a:ext cx="5029200" cy="0"/>
          </a:xfrm>
          <a:prstGeom prst="line">
            <a:avLst/>
          </a:prstGeom>
          <a:noFill/>
          <a:ln w="9525">
            <a:solidFill>
              <a:srgbClr val="E6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142232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RÉGIONS · SÉLECTION MULTIPLE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22960" y="4398264"/>
            <a:ext cx="987552" cy="329184"/>
          </a:xfrm>
          <a:prstGeom prst="roundRect">
            <a:avLst>
              <a:gd name="adj" fmla="val 16667"/>
            </a:avLst>
          </a:prstGeom>
          <a:solidFill>
            <a:srgbClr val="E9F5FB"/>
          </a:solidFill>
          <a:ln w="9525">
            <a:solidFill>
              <a:srgbClr val="0488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4398264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Bretagne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331720" y="4398264"/>
            <a:ext cx="1609344" cy="329184"/>
          </a:xfrm>
          <a:prstGeom prst="roundRect">
            <a:avLst>
              <a:gd name="adj" fmla="val 16667"/>
            </a:avLst>
          </a:prstGeom>
          <a:solidFill>
            <a:srgbClr val="E9F5FB"/>
          </a:solidFill>
          <a:ln w="9525">
            <a:solidFill>
              <a:srgbClr val="0488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31720" y="4398264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Pays de la Loire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0" y="4434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+ 11 autres régions disponibles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22960" y="4873752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BANQUE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822960" y="5129784"/>
            <a:ext cx="4480560" cy="365760"/>
          </a:xfrm>
          <a:prstGeom prst="roundRect">
            <a:avLst>
              <a:gd name="adj" fmla="val 12500"/>
            </a:avLst>
          </a:prstGeom>
          <a:solidFill>
            <a:srgbClr val="F7F9FB"/>
          </a:solidFill>
          <a:ln w="9525">
            <a:solidFill>
              <a:srgbClr val="D2D6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512978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Caisse d'Épargne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5660136"/>
            <a:ext cx="1371600" cy="384048"/>
          </a:xfrm>
          <a:prstGeom prst="roundRect">
            <a:avLst>
              <a:gd name="adj" fmla="val 14286"/>
            </a:avLst>
          </a:prstGeom>
          <a:solidFill>
            <a:srgbClr val="0488C1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66013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377440" y="57150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Bretagne + Pays de la Loire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126480" y="777240"/>
            <a:ext cx="1709928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236208" y="91440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254496" y="1463040"/>
            <a:ext cx="1453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relations bancaires rattachées au groupe BPCE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8019288" y="777240"/>
            <a:ext cx="1709928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129016" y="91440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22,2 M€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147304" y="1463040"/>
            <a:ext cx="1453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prêt effectif, Tier 1 Caisse d'Épargne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912096" y="777240"/>
            <a:ext cx="1709928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021824" y="91440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545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0040112" y="1463040"/>
            <a:ext cx="1453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lignes de financement cartographiées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126480" y="2606040"/>
            <a:ext cx="5486400" cy="36576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400800" y="277063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Cartographie CEBPL · extrait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26480" y="3136392"/>
            <a:ext cx="5486400" cy="0"/>
          </a:xfrm>
          <a:prstGeom prst="line">
            <a:avLst/>
          </a:prstGeom>
          <a:noFill/>
          <a:ln w="9525">
            <a:solidFill>
              <a:srgbClr val="E6E8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0" y="33558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Caisse d'Épargne BPL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0378440" y="335584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22,2 M€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400800" y="3666744"/>
            <a:ext cx="1920240" cy="109728"/>
          </a:xfrm>
          <a:prstGeom prst="roundRect">
            <a:avLst>
              <a:gd name="adj" fmla="val 41667"/>
            </a:avLst>
          </a:prstGeom>
          <a:solidFill>
            <a:srgbClr val="EEF1F5"/>
          </a:solidFill>
          <a:ln/>
        </p:spPr>
      </p:sp>
      <p:sp>
        <p:nvSpPr>
          <p:cNvPr id="35" name="!!bar0"/>
          <p:cNvSpPr/>
          <p:nvPr/>
        </p:nvSpPr>
        <p:spPr>
          <a:xfrm>
            <a:off x="6400800" y="3666744"/>
            <a:ext cx="109728" cy="109728"/>
          </a:xfrm>
          <a:prstGeom prst="roundRect">
            <a:avLst>
              <a:gd name="adj" fmla="val 41667"/>
            </a:avLst>
          </a:prstGeom>
          <a:solidFill>
            <a:srgbClr val="0488C1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0" y="40142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Banque Populaire Grand Ouest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10378440" y="4014216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14,8 M€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400800" y="4325112"/>
            <a:ext cx="1920240" cy="109728"/>
          </a:xfrm>
          <a:prstGeom prst="roundRect">
            <a:avLst>
              <a:gd name="adj" fmla="val 41667"/>
            </a:avLst>
          </a:prstGeom>
          <a:solidFill>
            <a:srgbClr val="EEF1F5"/>
          </a:solidFill>
          <a:ln/>
        </p:spPr>
      </p:sp>
      <p:sp>
        <p:nvSpPr>
          <p:cNvPr id="39" name="!!bar1"/>
          <p:cNvSpPr/>
          <p:nvPr/>
        </p:nvSpPr>
        <p:spPr>
          <a:xfrm>
            <a:off x="6400800" y="4325112"/>
            <a:ext cx="109728" cy="109728"/>
          </a:xfrm>
          <a:prstGeom prst="roundRect">
            <a:avLst>
              <a:gd name="adj" fmla="val 41667"/>
            </a:avLst>
          </a:prstGeom>
          <a:solidFill>
            <a:srgbClr val="0488C1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0" y="46725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 Agricole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10378440" y="4672584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11,3 M€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0" y="4983480"/>
            <a:ext cx="1920240" cy="109728"/>
          </a:xfrm>
          <a:prstGeom prst="roundRect">
            <a:avLst>
              <a:gd name="adj" fmla="val 41667"/>
            </a:avLst>
          </a:prstGeom>
          <a:solidFill>
            <a:srgbClr val="EEF1F5"/>
          </a:solidFill>
          <a:ln/>
        </p:spPr>
      </p:sp>
      <p:sp>
        <p:nvSpPr>
          <p:cNvPr id="43" name="!!bar2"/>
          <p:cNvSpPr/>
          <p:nvPr/>
        </p:nvSpPr>
        <p:spPr>
          <a:xfrm>
            <a:off x="6400800" y="4983480"/>
            <a:ext cx="109728" cy="109728"/>
          </a:xfrm>
          <a:prstGeom prst="roundRect">
            <a:avLst>
              <a:gd name="adj" fmla="val 41667"/>
            </a:avLst>
          </a:prstGeom>
          <a:solidFill>
            <a:srgbClr val="0488C1"/>
          </a:solidFill>
          <a:ln/>
        </p:spPr>
      </p:sp>
      <p:sp>
        <p:nvSpPr>
          <p:cNvPr id="44" name="Text 42"/>
          <p:cNvSpPr/>
          <p:nvPr/>
        </p:nvSpPr>
        <p:spPr>
          <a:xfrm>
            <a:off x="6400800" y="5330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Autres, 12 établissements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10378440" y="53309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31,5 M€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400800" y="5641848"/>
            <a:ext cx="1920240" cy="109728"/>
          </a:xfrm>
          <a:prstGeom prst="roundRect">
            <a:avLst>
              <a:gd name="adj" fmla="val 41667"/>
            </a:avLst>
          </a:prstGeom>
          <a:solidFill>
            <a:srgbClr val="EEF1F5"/>
          </a:solidFill>
          <a:ln/>
        </p:spPr>
      </p:sp>
      <p:sp>
        <p:nvSpPr>
          <p:cNvPr id="47" name="!!bar3"/>
          <p:cNvSpPr/>
          <p:nvPr/>
        </p:nvSpPr>
        <p:spPr>
          <a:xfrm>
            <a:off x="6400800" y="5641848"/>
            <a:ext cx="109728" cy="109728"/>
          </a:xfrm>
          <a:prstGeom prst="roundRect">
            <a:avLst>
              <a:gd name="adj" fmla="val 41667"/>
            </a:avLst>
          </a:prstGeom>
          <a:solidFill>
            <a:srgbClr val="9B9DA3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0" y="58795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 régions, une banque : l'analyse tombe, données sensibles comprises.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 advTm="400">
        <p159:morph option="byObject"/>
      </p:transition>
    </mc:Choice>
    <mc:Fallback>
      <p:transition spd="fast" advTm="400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3 · VIRTUAL BRAIN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5577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question sur nos participations 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121408"/>
            <a:ext cx="5394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 venu de l'équipe IR : des agents qui vont chercher, systématiquement, la même information dans chacune de nos participations, données sensibles comprises. Ici, la cartographie bancaire : deux régions, une banque, l'analyse tombe.</a:t>
            </a:r>
            <a:endParaRPr lang="en-US" sz="1250" dirty="0"/>
          </a:p>
        </p:txBody>
      </p:sp>
      <p:sp>
        <p:nvSpPr>
          <p:cNvPr id="5" name="!!app"/>
          <p:cNvSpPr/>
          <p:nvPr/>
        </p:nvSpPr>
        <p:spPr>
          <a:xfrm>
            <a:off x="548640" y="3520440"/>
            <a:ext cx="502920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366674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E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150" b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Brain · L'app régions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4014216"/>
            <a:ext cx="5029200" cy="0"/>
          </a:xfrm>
          <a:prstGeom prst="line">
            <a:avLst/>
          </a:prstGeom>
          <a:noFill/>
          <a:ln w="9525">
            <a:solidFill>
              <a:srgbClr val="E6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142232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RÉGIONS · SÉLECTION MULTIPLE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22960" y="4398264"/>
            <a:ext cx="987552" cy="329184"/>
          </a:xfrm>
          <a:prstGeom prst="roundRect">
            <a:avLst>
              <a:gd name="adj" fmla="val 16667"/>
            </a:avLst>
          </a:prstGeom>
          <a:solidFill>
            <a:srgbClr val="E9F5FB"/>
          </a:solidFill>
          <a:ln w="9525">
            <a:solidFill>
              <a:srgbClr val="0488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4398264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Bretagne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331720" y="4398264"/>
            <a:ext cx="1609344" cy="329184"/>
          </a:xfrm>
          <a:prstGeom prst="roundRect">
            <a:avLst>
              <a:gd name="adj" fmla="val 16667"/>
            </a:avLst>
          </a:prstGeom>
          <a:solidFill>
            <a:srgbClr val="E9F5FB"/>
          </a:solidFill>
          <a:ln w="9525">
            <a:solidFill>
              <a:srgbClr val="0488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31720" y="4398264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Pays de la Loire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0" y="4434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+ 11 autres régions disponibles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22960" y="4873752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BANQUE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822960" y="5129784"/>
            <a:ext cx="4480560" cy="365760"/>
          </a:xfrm>
          <a:prstGeom prst="roundRect">
            <a:avLst>
              <a:gd name="adj" fmla="val 12500"/>
            </a:avLst>
          </a:prstGeom>
          <a:solidFill>
            <a:srgbClr val="F7F9FB"/>
          </a:solidFill>
          <a:ln w="9525">
            <a:solidFill>
              <a:srgbClr val="D2D6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512978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Caisse d'Épargne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5660136"/>
            <a:ext cx="1371600" cy="384048"/>
          </a:xfrm>
          <a:prstGeom prst="roundRect">
            <a:avLst>
              <a:gd name="adj" fmla="val 14286"/>
            </a:avLst>
          </a:prstGeom>
          <a:solidFill>
            <a:srgbClr val="0488C1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66013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377440" y="57150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Bretagne + Pays de la Loire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126480" y="777240"/>
            <a:ext cx="1709928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236208" y="91440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254496" y="1463040"/>
            <a:ext cx="1453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relations bancaires rattachées au groupe BPCE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8019288" y="777240"/>
            <a:ext cx="1709928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129016" y="91440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22,2 M€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147304" y="1463040"/>
            <a:ext cx="1453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prêt effectif, Tier 1 Caisse d'Épargne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912096" y="777240"/>
            <a:ext cx="1709928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021824" y="91440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545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0040112" y="1463040"/>
            <a:ext cx="1453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lignes de financement cartographiées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126480" y="2606040"/>
            <a:ext cx="5486400" cy="36576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400800" y="277063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Cartographie CEBPL · extrait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26480" y="3136392"/>
            <a:ext cx="5486400" cy="0"/>
          </a:xfrm>
          <a:prstGeom prst="line">
            <a:avLst/>
          </a:prstGeom>
          <a:noFill/>
          <a:ln w="9525">
            <a:solidFill>
              <a:srgbClr val="E6E8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0" y="33558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Caisse d'Épargne BPL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0378440" y="335584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22,2 M€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400800" y="3666744"/>
            <a:ext cx="1920240" cy="109728"/>
          </a:xfrm>
          <a:prstGeom prst="roundRect">
            <a:avLst>
              <a:gd name="adj" fmla="val 41667"/>
            </a:avLst>
          </a:prstGeom>
          <a:solidFill>
            <a:srgbClr val="EEF1F5"/>
          </a:solidFill>
          <a:ln/>
        </p:spPr>
      </p:sp>
      <p:sp>
        <p:nvSpPr>
          <p:cNvPr id="35" name="!!bar0"/>
          <p:cNvSpPr/>
          <p:nvPr/>
        </p:nvSpPr>
        <p:spPr>
          <a:xfrm>
            <a:off x="6400800" y="3666744"/>
            <a:ext cx="1353312" cy="109728"/>
          </a:xfrm>
          <a:prstGeom prst="roundRect">
            <a:avLst>
              <a:gd name="adj" fmla="val 41667"/>
            </a:avLst>
          </a:prstGeom>
          <a:solidFill>
            <a:srgbClr val="0488C1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0" y="40142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Banque Populaire Grand Ouest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10378440" y="4014216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14,8 M€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400800" y="4325112"/>
            <a:ext cx="1920240" cy="109728"/>
          </a:xfrm>
          <a:prstGeom prst="roundRect">
            <a:avLst>
              <a:gd name="adj" fmla="val 41667"/>
            </a:avLst>
          </a:prstGeom>
          <a:solidFill>
            <a:srgbClr val="EEF1F5"/>
          </a:solidFill>
          <a:ln/>
        </p:spPr>
      </p:sp>
      <p:sp>
        <p:nvSpPr>
          <p:cNvPr id="39" name="!!bar1"/>
          <p:cNvSpPr/>
          <p:nvPr/>
        </p:nvSpPr>
        <p:spPr>
          <a:xfrm>
            <a:off x="6400800" y="4325112"/>
            <a:ext cx="902208" cy="109728"/>
          </a:xfrm>
          <a:prstGeom prst="roundRect">
            <a:avLst>
              <a:gd name="adj" fmla="val 41667"/>
            </a:avLst>
          </a:prstGeom>
          <a:solidFill>
            <a:srgbClr val="0488C1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0" y="46725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 Agricole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10378440" y="4672584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11,3 M€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0" y="4983480"/>
            <a:ext cx="1920240" cy="109728"/>
          </a:xfrm>
          <a:prstGeom prst="roundRect">
            <a:avLst>
              <a:gd name="adj" fmla="val 41667"/>
            </a:avLst>
          </a:prstGeom>
          <a:solidFill>
            <a:srgbClr val="EEF1F5"/>
          </a:solidFill>
          <a:ln/>
        </p:spPr>
      </p:sp>
      <p:sp>
        <p:nvSpPr>
          <p:cNvPr id="43" name="!!bar2"/>
          <p:cNvSpPr/>
          <p:nvPr/>
        </p:nvSpPr>
        <p:spPr>
          <a:xfrm>
            <a:off x="6400800" y="4983480"/>
            <a:ext cx="688848" cy="109728"/>
          </a:xfrm>
          <a:prstGeom prst="roundRect">
            <a:avLst>
              <a:gd name="adj" fmla="val 41667"/>
            </a:avLst>
          </a:prstGeom>
          <a:solidFill>
            <a:srgbClr val="0488C1"/>
          </a:solidFill>
          <a:ln/>
        </p:spPr>
      </p:sp>
      <p:sp>
        <p:nvSpPr>
          <p:cNvPr id="44" name="Text 42"/>
          <p:cNvSpPr/>
          <p:nvPr/>
        </p:nvSpPr>
        <p:spPr>
          <a:xfrm>
            <a:off x="6400800" y="5330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Autres, 12 établissements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10378440" y="53309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31,5 M€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400800" y="5641848"/>
            <a:ext cx="1920240" cy="109728"/>
          </a:xfrm>
          <a:prstGeom prst="roundRect">
            <a:avLst>
              <a:gd name="adj" fmla="val 41667"/>
            </a:avLst>
          </a:prstGeom>
          <a:solidFill>
            <a:srgbClr val="EEF1F5"/>
          </a:solidFill>
          <a:ln/>
        </p:spPr>
      </p:sp>
      <p:sp>
        <p:nvSpPr>
          <p:cNvPr id="47" name="!!bar3"/>
          <p:cNvSpPr/>
          <p:nvPr/>
        </p:nvSpPr>
        <p:spPr>
          <a:xfrm>
            <a:off x="6400800" y="5641848"/>
            <a:ext cx="1920240" cy="109728"/>
          </a:xfrm>
          <a:prstGeom prst="roundRect">
            <a:avLst>
              <a:gd name="adj" fmla="val 41667"/>
            </a:avLst>
          </a:prstGeom>
          <a:solidFill>
            <a:srgbClr val="9B9DA3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0" y="58795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 régions, une banque : l'analyse tombe, données sensibles comprises.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800">
        <p159:morph option="byObject"/>
      </p:transition>
    </mc:Choice>
    <mc:Fallback>
      <p:transition spd="fast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SORTANT D'ICI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choses, utilisables ce matin.</a:t>
            </a:r>
            <a:endParaRPr lang="en-US" sz="3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 advTm="700">
        <p159:morph option="byObject"/>
      </p:transition>
    </mc:Choice>
    <mc:Fallback>
      <p:transition spd="fast" advTm="700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SORTANT D'ICI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choses, utilisables ce matin.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14600"/>
            <a:ext cx="338328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2788920"/>
            <a:ext cx="2798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3136392"/>
            <a:ext cx="27980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Installez CR Express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389120" y="2514600"/>
            <a:ext cx="338328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81728" y="2788920"/>
            <a:ext cx="2798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681728" y="3136392"/>
            <a:ext cx="27980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Demandez un Brief Express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229600" y="2514600"/>
            <a:ext cx="338328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522208" y="2788920"/>
            <a:ext cx="2798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522208" y="3136392"/>
            <a:ext cx="27980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Parlez à Virtual Brain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48640" y="4892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on les utilise, </a:t>
            </a:r>
            <a:pPr indent="0" marL="0">
              <a:buNone/>
            </a:pPr>
            <a:r>
              <a:rPr lang="en-US" sz="21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ils deviennent bons.</a:t>
            </a:r>
            <a:endParaRPr lang="en-US" sz="2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488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256032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questions ?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48640" y="3886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idée, un cas d'usage ? Venez nous voir.</a:t>
            </a:r>
            <a:endParaRPr lang="en-US" sz="1400" dirty="0"/>
          </a:p>
        </p:txBody>
      </p:sp>
      <p:pic>
        <p:nvPicPr>
          <p:cNvPr id="5" name="!!cclo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897880"/>
            <a:ext cx="1463040" cy="5762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800">
        <p159:morph option="byObject"/>
      </p:transition>
    </mc:Choice>
    <mc:Fallback>
      <p:transition spd="fast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2026-07-19T16:31:20Z</dcterms:created>
  <dcterms:modified xsi:type="dcterms:W3CDTF">2026-07-19T16:31:20Z</dcterms:modified>
</cp:coreProperties>
</file>