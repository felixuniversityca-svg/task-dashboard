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c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972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99855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Mardi 21 juillet 2026</a:t>
            </a:r>
            <a:endParaRPr lang="en-US" sz="1100" dirty="0"/>
          </a:p>
        </p:txBody>
      </p:sp>
    </p:spTree>
  </p:cSld>
  <p:clrMapOvr>
    <a:masterClrMapping/>
  </p:clrMapOvr>
  <p:transition advTm="8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c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972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99855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Mardi 21 juillet 2026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2066544"/>
            <a:ext cx="612648" cy="41148"/>
          </a:xfrm>
          <a:prstGeom prst="roundRect">
            <a:avLst>
              <a:gd name="adj" fmla="val 44444"/>
            </a:avLst>
          </a:prstGeom>
          <a:solidFill>
            <a:srgbClr val="0488C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33172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800"/>
              </a:lnSpc>
              <a:buNone/>
            </a:pPr>
            <a:r>
              <a:rPr lang="en-US" sz="6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L'IA,</a:t>
            </a:r>
            <a:endParaRPr lang="en-US" sz="6600" dirty="0"/>
          </a:p>
          <a:p>
            <a:pPr indent="0" marL="0">
              <a:lnSpc>
                <a:spcPts val="6800"/>
              </a:lnSpc>
              <a:buNone/>
            </a:pPr>
            <a:r>
              <a:rPr lang="en-US" sz="6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concrètement.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construit en deux mois, et ce que vous pouvez installer en sortant d'ici.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BOÎTE À OUTILS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cerveau, la bibliothèque, la tuyauterie.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 advTm="700">
        <p159:morph option="byObject"/>
      </p:transition>
    </mc:Choice>
    <mc:Fallback>
      <p:transition spd="fast" advTm="7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BOÎTE À OUTILS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cerveau, la bibliothèque, la tuyauterie.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52448" y="2103120"/>
            <a:ext cx="39776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768" y="235915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EED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375" y="246375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48560" y="237744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CERVEAU DE L'OPÉRATION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648560" y="2596896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026768" y="307238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à qui on parle, qui comprend, qui rédige. Elle suit et alimente le projet de bout en bout.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61608" y="2103120"/>
            <a:ext cx="39776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35928" y="235915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5F5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535" y="246375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57720" y="237744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BIBLIOTHÈQUE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357720" y="2596896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735928" y="307238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Comptes, contacts, historique. C'est là que tout doit finir, trié, proprement rangé.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741268" y="4151376"/>
            <a:ext cx="1495044" cy="384048"/>
          </a:xfrm>
          <a:prstGeom prst="line">
            <a:avLst/>
          </a:prstGeom>
          <a:noFill/>
          <a:ln w="19050">
            <a:solidFill>
              <a:srgbClr val="EA4B71"/>
            </a:solidFill>
            <a:prstDash val="solid"/>
            <a:headEnd type="oval"/>
          </a:ln>
        </p:spPr>
      </p:sp>
      <p:sp>
        <p:nvSpPr>
          <p:cNvPr id="17" name="Shape 13"/>
          <p:cNvSpPr/>
          <p:nvPr/>
        </p:nvSpPr>
        <p:spPr>
          <a:xfrm flipV="1">
            <a:off x="6955384" y="4151376"/>
            <a:ext cx="1495044" cy="384048"/>
          </a:xfrm>
          <a:prstGeom prst="line">
            <a:avLst/>
          </a:prstGeom>
          <a:noFill/>
          <a:ln w="19050">
            <a:solidFill>
              <a:srgbClr val="EA4B71"/>
            </a:solidFill>
            <a:prstDash val="solid"/>
            <a:tailEnd type="oval"/>
          </a:ln>
        </p:spPr>
      </p:sp>
      <p:sp>
        <p:nvSpPr>
          <p:cNvPr id="18" name="Shape 14"/>
          <p:cNvSpPr/>
          <p:nvPr/>
        </p:nvSpPr>
        <p:spPr>
          <a:xfrm>
            <a:off x="3947008" y="4572000"/>
            <a:ext cx="4297680" cy="1645920"/>
          </a:xfrm>
          <a:prstGeom prst="roundRect">
            <a:avLst>
              <a:gd name="adj" fmla="val 5000"/>
            </a:avLst>
          </a:prstGeom>
          <a:solidFill>
            <a:srgbClr val="FEF7F9"/>
          </a:solidFill>
          <a:ln w="9525">
            <a:solidFill>
              <a:srgbClr val="F2BCCA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58104" y="47731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CED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711" y="4877775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221328" y="5321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TUYAUTERIE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221328" y="5559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pPr algn="ctr" indent="0" marL="0">
              <a:buNone/>
            </a:pPr>
            <a:r>
              <a:rPr lang="en-US" sz="12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C'est elle qui les fait dialoguer.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nv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8" y="0"/>
            <a:ext cx="11887200" cy="6858000"/>
          </a:xfrm>
          <a:prstGeom prst="rect">
            <a:avLst/>
          </a:prstGeom>
        </p:spPr>
      </p:pic>
      <p:sp>
        <p:nvSpPr>
          <p:cNvPr id="3" name="!!dot"/>
          <p:cNvSpPr/>
          <p:nvPr/>
        </p:nvSpPr>
        <p:spPr>
          <a:xfrm>
            <a:off x="2779918" y="3729230"/>
            <a:ext cx="100584" cy="1005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 advTm="2400">
        <p159:morph option="byObject"/>
      </p:transition>
    </mc:Choice>
    <mc:Fallback>
      <p:transition spd="fast" advTm="24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nv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8" y="0"/>
            <a:ext cx="11887200" cy="6858000"/>
          </a:xfrm>
          <a:prstGeom prst="rect">
            <a:avLst/>
          </a:prstGeom>
        </p:spPr>
      </p:pic>
      <p:sp>
        <p:nvSpPr>
          <p:cNvPr id="3" name="!!dot"/>
          <p:cNvSpPr/>
          <p:nvPr/>
        </p:nvSpPr>
        <p:spPr>
          <a:xfrm>
            <a:off x="3343530" y="2817504"/>
            <a:ext cx="100584" cy="1005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50" advTm="60">
        <p159:morph option="byObject"/>
      </p:transition>
    </mc:Choice>
    <mc:Fallback>
      <p:transition spd="fast" advTm="6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nv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8" y="0"/>
            <a:ext cx="11887200" cy="6858000"/>
          </a:xfrm>
          <a:prstGeom prst="rect">
            <a:avLst/>
          </a:prstGeom>
        </p:spPr>
      </p:pic>
      <p:sp>
        <p:nvSpPr>
          <p:cNvPr id="3" name="!!dot"/>
          <p:cNvSpPr/>
          <p:nvPr/>
        </p:nvSpPr>
        <p:spPr>
          <a:xfrm>
            <a:off x="4769139" y="2817504"/>
            <a:ext cx="100584" cy="1005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50" advTm="60">
        <p159:morph option="byObject"/>
      </p:transition>
    </mc:Choice>
    <mc:Fallback>
      <p:transition spd="fast" advTm="6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nv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8" y="0"/>
            <a:ext cx="11887200" cy="6858000"/>
          </a:xfrm>
          <a:prstGeom prst="rect">
            <a:avLst/>
          </a:prstGeom>
        </p:spPr>
      </p:pic>
      <p:sp>
        <p:nvSpPr>
          <p:cNvPr id="3" name="!!dot"/>
          <p:cNvSpPr/>
          <p:nvPr/>
        </p:nvSpPr>
        <p:spPr>
          <a:xfrm>
            <a:off x="5332751" y="4640956"/>
            <a:ext cx="100584" cy="1005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50" advTm="60">
        <p159:morph option="byObject"/>
      </p:transition>
    </mc:Choice>
    <mc:Fallback>
      <p:transition spd="fast" advTm="6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nv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8" y="0"/>
            <a:ext cx="11887200" cy="6858000"/>
          </a:xfrm>
          <a:prstGeom prst="rect">
            <a:avLst/>
          </a:prstGeom>
        </p:spPr>
      </p:pic>
      <p:sp>
        <p:nvSpPr>
          <p:cNvPr id="3" name="!!dot"/>
          <p:cNvSpPr/>
          <p:nvPr/>
        </p:nvSpPr>
        <p:spPr>
          <a:xfrm>
            <a:off x="6758360" y="4640956"/>
            <a:ext cx="100584" cy="1005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50" advTm="60">
        <p159:morph option="byObject"/>
      </p:transition>
    </mc:Choice>
    <mc:Fallback>
      <p:transition spd="fast" advTm="6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nv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8" y="0"/>
            <a:ext cx="11887200" cy="6858000"/>
          </a:xfrm>
          <a:prstGeom prst="rect">
            <a:avLst/>
          </a:prstGeom>
        </p:spPr>
      </p:pic>
      <p:sp>
        <p:nvSpPr>
          <p:cNvPr id="3" name="!!dot"/>
          <p:cNvSpPr/>
          <p:nvPr/>
        </p:nvSpPr>
        <p:spPr>
          <a:xfrm>
            <a:off x="7321972" y="2817504"/>
            <a:ext cx="100584" cy="1005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50" advTm="60">
        <p159:morph option="byObject"/>
      </p:transition>
    </mc:Choice>
    <mc:Fallback>
      <p:transition spd="fast" advTm="6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nv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8" y="0"/>
            <a:ext cx="11887200" cy="6858000"/>
          </a:xfrm>
          <a:prstGeom prst="rect">
            <a:avLst/>
          </a:prstGeom>
        </p:spPr>
      </p:pic>
      <p:sp>
        <p:nvSpPr>
          <p:cNvPr id="3" name="!!dot"/>
          <p:cNvSpPr/>
          <p:nvPr/>
        </p:nvSpPr>
        <p:spPr>
          <a:xfrm>
            <a:off x="8747581" y="2817504"/>
            <a:ext cx="100584" cy="1005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50" advTm="60">
        <p159:morph option="byObject"/>
      </p:transition>
    </mc:Choice>
    <mc:Fallback>
      <p:transition spd="fast" advTm="6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nv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8" y="0"/>
            <a:ext cx="11887200" cy="6858000"/>
          </a:xfrm>
          <a:prstGeom prst="rect">
            <a:avLst/>
          </a:prstGeom>
        </p:spPr>
      </p:pic>
      <p:sp>
        <p:nvSpPr>
          <p:cNvPr id="3" name="!!dot"/>
          <p:cNvSpPr/>
          <p:nvPr/>
        </p:nvSpPr>
        <p:spPr>
          <a:xfrm>
            <a:off x="9311193" y="3894999"/>
            <a:ext cx="100584" cy="1005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50">
        <p159:morph option="byObject"/>
      </p:transition>
    </mc:Choice>
    <mc:Fallback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DIAGNOSTIC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entend tous les jours.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0" y="2084832"/>
            <a:ext cx="6309360" cy="9326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92808" y="2176272"/>
            <a:ext cx="5724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On n'a pas tous le réflexe Salesforce... ni toujours le temps. 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92808" y="2688336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850" b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monde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39335" y="3163824"/>
            <a:ext cx="5852160" cy="932688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9CCFE7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31943" y="3255264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Ce qui se dit en RDV reste chez ceux qui y étaient. 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31943" y="3767328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r" indent="0" marL="0">
              <a:buNone/>
            </a:pPr>
            <a:r>
              <a:rPr lang="en-US" sz="850" b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et buy-out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00200" y="4242816"/>
            <a:ext cx="6035040" cy="9326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92808" y="4334256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Aucun moyen d'interroger nos participations d'un coup. 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2808" y="4846320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850" b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équipes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62295" y="5321808"/>
            <a:ext cx="5029200" cy="932688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9CCFE7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4903" y="5413248"/>
            <a:ext cx="444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On ne sait pas ce qui bouge chez nos LP. 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4903" y="5925312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r" indent="0" marL="0">
              <a:buNone/>
            </a:pPr>
            <a:r>
              <a:rPr lang="en-US" sz="850" b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50" kern="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SUJET</a:t>
            </a:r>
            <a:endParaRPr lang="en-US" sz="1000" dirty="0"/>
          </a:p>
        </p:txBody>
      </p:sp>
      <p:sp>
        <p:nvSpPr>
          <p:cNvPr id="3" name="!!verdict"/>
          <p:cNvSpPr/>
          <p:nvPr/>
        </p:nvSpPr>
        <p:spPr>
          <a:xfrm>
            <a:off x="1097280" y="2606040"/>
            <a:ext cx="9994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i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L'information est là, </a:t>
            </a:r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</a:t>
            </a:r>
            <a:pPr algn="ctr" indent="0" marL="0">
              <a:lnSpc>
                <a:spcPts val="4000"/>
              </a:lnSpc>
              <a:buNone/>
            </a:pPr>
            <a:r>
              <a:rPr lang="en-US" sz="3400" i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à portée de main.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50" kern="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SUJET</a:t>
            </a:r>
            <a:endParaRPr lang="en-US" sz="1000" dirty="0"/>
          </a:p>
        </p:txBody>
      </p:sp>
      <p:sp>
        <p:nvSpPr>
          <p:cNvPr id="3" name="!!verdict"/>
          <p:cNvSpPr/>
          <p:nvPr/>
        </p:nvSpPr>
        <p:spPr>
          <a:xfrm>
            <a:off x="1097280" y="2606040"/>
            <a:ext cx="9994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i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L'information est là, </a:t>
            </a:r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</a:t>
            </a:r>
            <a:pPr algn="ctr" indent="0" marL="0">
              <a:lnSpc>
                <a:spcPts val="4000"/>
              </a:lnSpc>
              <a:buNone/>
            </a:pPr>
            <a:r>
              <a:rPr lang="en-US" sz="3400" i="1" strike="sngStrike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à portée de main.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397764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outils pour la mettre à portée de main.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ivring"/>
          <p:cNvSpPr/>
          <p:nvPr/>
        </p:nvSpPr>
        <p:spPr>
          <a:xfrm>
            <a:off x="3718408" y="685800"/>
            <a:ext cx="4754880" cy="4754880"/>
          </a:xfrm>
          <a:prstGeom prst="ellipse">
            <a:avLst/>
          </a:prstGeom>
          <a:solidFill>
            <a:srgbClr val="F7F9FB"/>
          </a:solidFill>
          <a:ln/>
        </p:spPr>
      </p:sp>
      <p:sp>
        <p:nvSpPr>
          <p:cNvPr id="3" name="!!divnum"/>
          <p:cNvSpPr/>
          <p:nvPr/>
        </p:nvSpPr>
        <p:spPr>
          <a:xfrm>
            <a:off x="0" y="1051560"/>
            <a:ext cx="121916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4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914400" y="44348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compte-rendu qui s'écrit tout seul.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1325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103120" y="167335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25146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1325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103120" y="167335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25146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03120" y="443484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44211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491032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4910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48966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538581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5385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53721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1600">
        <p159:morph option="byObject"/>
      </p:transition>
    </mc:Choice>
    <mc:Fallback>
      <p:transition spd="fast" advTm="16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" advTm="1400">
        <p159:morph option="byObject"/>
      </p:transition>
    </mc:Choice>
    <mc:Fallback>
      <p:transition spd="fast" advTm="14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" advTm="1400">
        <p159:morph option="byObject"/>
      </p:transition>
    </mc:Choice>
    <mc:Fallback>
      <p:transition spd="fast" advTm="14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" advTm="1400">
        <p159:morph option="byObject"/>
      </p:transition>
    </mc:Choice>
    <mc:Fallback>
      <p:transition spd="fast" advTm="14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 advTm="3000">
        <p159:morph option="byObject"/>
      </p:transition>
    </mc:Choice>
    <mc:Fallback>
      <p:transition spd="fast" advTm="3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 advTm="3000">
        <p159:morph option="byObject"/>
      </p:transition>
    </mc:Choice>
    <mc:Fallback>
      <p:transition spd="fast" advTm="3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" advTm="1800">
        <p159:morph option="byObject"/>
      </p:transition>
    </mc:Choice>
    <mc:Fallback>
      <p:transition spd="fast" advTm="18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" advTm="1600">
        <p159:morph option="byObject"/>
      </p:transition>
    </mc:Choice>
    <mc:Fallback>
      <p:transition spd="fast" advTm="16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2000">
        <p159:morph option="byObject"/>
      </p:transition>
    </mc:Choice>
    <mc:Fallback>
      <p:transition spd="fast" advTm="2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2000">
        <p159:morph option="byObject"/>
      </p:transition>
    </mc:Choice>
    <mc:Fallback>
      <p:transition spd="fast" advTm="2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2600">
        <p159:morph option="byObject"/>
      </p:transition>
    </mc:Choice>
    <mc:Fallback>
      <p:transition spd="fast" advTm="26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2000">
        <p159:morph option="byObject"/>
      </p:transition>
    </mc:Choice>
    <mc:Fallback>
      <p:transition spd="fast" advTm="20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pic>
        <p:nvPicPr>
          <p:cNvPr id="14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2200">
        <p159:morph option="byObject"/>
      </p:transition>
    </mc:Choice>
    <mc:Fallback>
      <p:transition spd="fast" advTm="22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d'un rendez-vous. Une minute de dictée dans Teams, le compte-rendu s'écrit : vous donnez votre feu vert. Demander un résumé à une IA, tout le monde sait déjà le faire. La différence est ailleurs 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saisie Salesforce. </a:t>
            </a:r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parlez, vous validez, c'est rangé.</a:t>
            </a:r>
            <a:endParaRPr lang="en-US" sz="1600" dirty="0"/>
          </a:p>
        </p:txBody>
      </p:sp>
      <p:pic>
        <p:nvPicPr>
          <p:cNvPr id="15" name="!!phone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5145867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ivring"/>
          <p:cNvSpPr/>
          <p:nvPr/>
        </p:nvSpPr>
        <p:spPr>
          <a:xfrm>
            <a:off x="3718408" y="685800"/>
            <a:ext cx="4754880" cy="4754880"/>
          </a:xfrm>
          <a:prstGeom prst="ellipse">
            <a:avLst/>
          </a:prstGeom>
          <a:solidFill>
            <a:srgbClr val="F7F9FB"/>
          </a:solidFill>
          <a:ln/>
        </p:spPr>
      </p:sp>
      <p:sp>
        <p:nvSpPr>
          <p:cNvPr id="3" name="!!divnum"/>
          <p:cNvSpPr/>
          <p:nvPr/>
        </p:nvSpPr>
        <p:spPr>
          <a:xfrm>
            <a:off x="0" y="1051560"/>
            <a:ext cx="121916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4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914400" y="44348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Arriver prêt, sans rien préparer.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1325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 · AVANT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103120" y="167335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25146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9h21, vous voyez un LP dans 20 minutes. Une phrase dans Teams : il relit d'abord tout ce que notre Salesforce sait déjà de lui, puis enrichit avec ce qui se dit dehors :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registres officiels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LinkedIn aussi, à prendre avec un peu de recul. Vous arrivez préparé, sans rien avoir ouvert.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1325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 · AVANT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103120" y="167335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03120" y="251460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9h21, vous voyez un LP dans 20 minutes. Une phrase dans Teams : il relit d'abord tout ce que notre Salesforce sait déjà de lui, puis enrichit avec ce qui se dit dehors :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registres officiels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LinkedIn aussi, à prendre avec un peu de recul. Vous arrivez préparé, sans rien avoir ouvert.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03120" y="443484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44211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écrivez comme vous parlez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491032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4910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48966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lit notre Salesforce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538581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5385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53721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il enrichit : CFnews, presse, registres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 · AVANT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9h21, vous voyez un LP dans 20 minutes. Une phrase dans Teams : il relit d'abord tout ce que notre Salesforce sait déjà de lui, puis enrichit avec ce qui se dit dehors :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registres officiels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LinkedIn aussi, à prendre avec un peu de recul. Vous arrivez préparé, sans rien avoir ouvert.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écrivez comme vous parlez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lit notre Salesforce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il enrichit : CFnews, presse, registres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fait que lire. </a:t>
            </a:r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phrase, trente secondes, vous arrivez préparé.</a:t>
            </a:r>
            <a:endParaRPr lang="en-US" sz="1600" dirty="0"/>
          </a:p>
        </p:txBody>
      </p:sp>
      <p:pic>
        <p:nvPicPr>
          <p:cNvPr id="15" name="!!phone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57200"/>
            <a:ext cx="5601981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1800">
        <p159:morph option="byObject"/>
      </p:transition>
    </mc:Choice>
    <mc:Fallback>
      <p:transition spd="fast" advTm="18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 · AVANT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9h21, vous voyez un LP dans 20 minutes. Une phrase dans Teams : il relit d'abord tout ce que notre Salesforce sait déjà de lui, puis enrichit avec ce qui se dit dehors :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registres officiels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LinkedIn aussi, à prendre avec un peu de recul. Vous arrivez préparé, sans rien avoir ouvert.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écrivez comme vous parlez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lit notre Salesforce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il enrichit : CFnews, presse, registres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fait que lire. </a:t>
            </a:r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phrase, trente secondes, vous arrivez préparé.</a:t>
            </a:r>
            <a:endParaRPr lang="en-US" sz="1600" dirty="0"/>
          </a:p>
        </p:txBody>
      </p:sp>
      <p:pic>
        <p:nvPicPr>
          <p:cNvPr id="15" name="!!phone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57200"/>
            <a:ext cx="5601981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2400">
        <p159:morph option="byObject"/>
      </p:transition>
    </mc:Choice>
    <mc:Fallback>
      <p:transition spd="fast" advTm="240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 · AVANT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9h21, vous voyez un LP dans 20 minutes. Une phrase dans Teams : il relit d'abord tout ce que notre Salesforce sait déjà de lui, puis enrichit avec ce qui se dit dehors :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registres officiels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LinkedIn aussi, à prendre avec un peu de recul. Vous arrivez préparé, sans rien avoir ouvert.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écrivez comme vous parlez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lit notre Salesforce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il enrichit : CFnews, presse, registres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fait que lire. </a:t>
            </a:r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phrase, trente secondes, vous arrivez préparé.</a:t>
            </a:r>
            <a:endParaRPr lang="en-US" sz="1600" dirty="0"/>
          </a:p>
        </p:txBody>
      </p:sp>
      <p:pic>
        <p:nvPicPr>
          <p:cNvPr id="15" name="!!phone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57200"/>
            <a:ext cx="5601981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" advTm="1400">
        <p159:morph option="byObject"/>
      </p:transition>
    </mc:Choice>
    <mc:Fallback>
      <p:transition spd="fast" advTm="140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 · AVANT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9h21, vous voyez un LP dans 20 minutes. Une phrase dans Teams : il relit d'abord tout ce que notre Salesforce sait déjà de lui, puis enrichit avec ce qui se dit dehors :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registres officiels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LinkedIn aussi, à prendre avec un peu de recul. Vous arrivez préparé, sans rien avoir ouvert.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écrivez comme vous parlez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lit notre Salesforce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il enrichit : CFnews, presse, registres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fait que lire. </a:t>
            </a:r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phrase, trente secondes, vous arrivez préparé.</a:t>
            </a:r>
            <a:endParaRPr lang="en-US" sz="1600" dirty="0"/>
          </a:p>
        </p:txBody>
      </p:sp>
      <p:pic>
        <p:nvPicPr>
          <p:cNvPr id="15" name="!!phone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57200"/>
            <a:ext cx="5601981" cy="598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2200">
        <p159:morph option="byObject"/>
      </p:transition>
    </mc:Choice>
    <mc:Fallback>
      <p:transition spd="fast" advTm="22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 · AVANT LE RENDEZ-VOUS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9h21, vous voyez un LP dans 20 minutes. Une phrase dans Teams : il relit d'abord tout ce que notre Salesforce sait déjà de lui, puis enrichit avec ce qui se dit dehors :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registres officiels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LinkedIn aussi, à prendre avec un peu de recul. Vous arrivez préparé, sans rien avoir ouvert.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écrivez comme vous parlez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lit notre Salesforce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il enrichit : CFnews, presse, registres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fait que lire. </a:t>
            </a:r>
            <a:pPr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phrase, trente secondes, vous arrivez préparé.</a:t>
            </a:r>
            <a:endParaRPr lang="en-US" sz="1600" dirty="0"/>
          </a:p>
        </p:txBody>
      </p:sp>
      <p:pic>
        <p:nvPicPr>
          <p:cNvPr id="15" name="!!phone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57200"/>
            <a:ext cx="5601981" cy="5989320"/>
          </a:xfrm>
          <a:prstGeom prst="rect">
            <a:avLst/>
          </a:prstGeom>
        </p:spPr>
      </p:pic>
      <p:sp>
        <p:nvSpPr>
          <p:cNvPr id="16" name="!!fiche"/>
          <p:cNvSpPr/>
          <p:nvPr/>
        </p:nvSpPr>
        <p:spPr>
          <a:xfrm>
            <a:off x="7346290" y="1238098"/>
            <a:ext cx="2648102" cy="4736592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7" name="!!fname"/>
          <p:cNvSpPr/>
          <p:nvPr/>
        </p:nvSpPr>
        <p:spPr>
          <a:xfrm>
            <a:off x="7456018" y="1292962"/>
            <a:ext cx="24286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</a:t>
            </a:r>
            <a:pPr indent="0" marL="0">
              <a:buNone/>
            </a:pPr>
            <a:r>
              <a:rPr lang="en-US" sz="5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🟢 LP, déjà investi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456018" y="1548994"/>
            <a:ext cx="24286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5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 est LP, associé fondateur de Breizh Rebond, investi en son nom propre : 200 000 € sur Bluester Europe V, clos le 27/11/2025. Dernier échange : dîner LP avec Chris à Nantes, le 7 juillet. Prochaine étape : programmer le RDV Edelweiss 2.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7456018" y="2335378"/>
            <a:ext cx="242864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Salesforce</a:t>
            </a:r>
            <a:endParaRPr lang="en-US" sz="550" dirty="0"/>
          </a:p>
          <a:p>
            <a:pPr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5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: Chris Chenebault · Dernier contact : 7 juillet (dîner à Nantes) · Engagements : Levée Bluester Europe V (200 000 €)</a:t>
            </a:r>
            <a:endParaRPr lang="en-US" sz="550" dirty="0"/>
          </a:p>
          <a:p>
            <a:pPr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🕘 Historique</a:t>
            </a:r>
            <a:endParaRPr lang="en-US" sz="550" dirty="0"/>
          </a:p>
          <a:p>
            <a:pPr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5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13/07 Nouvelle piste : Levée Edelweiss 2 · 07/07 Dîner LP avec Chris · 09/12 Relance teaser · 27/11 Salon de Rennes</a:t>
            </a:r>
            <a:endParaRPr lang="en-US" sz="550" dirty="0"/>
          </a:p>
          <a:p>
            <a:pPr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Registre officiel</a:t>
            </a:r>
            <a:endParaRPr lang="en-US" sz="550" dirty="0"/>
          </a:p>
          <a:p>
            <a:pPr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5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 : Sylvain Querneau, associé fondateur (Breizh Rebond)</a:t>
            </a:r>
            <a:endParaRPr lang="en-US" sz="550" dirty="0"/>
          </a:p>
          <a:p>
            <a:pPr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</a:t>
            </a:r>
            <a:endParaRPr lang="en-US" sz="550" dirty="0"/>
          </a:p>
          <a:p>
            <a:pPr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5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fonds breton de retournement · 46 M€ investis dans 10 PME · Prix « Best French Turnaround Investor » 2025</a:t>
            </a:r>
            <a:endParaRPr lang="en-US" sz="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" advTm="1600">
        <p159:morph option="byObject"/>
      </p:transition>
    </mc:Choice>
    <mc:Fallback>
      <p:transition spd="fast" advTm="160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 · LE RÉSULTAT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Trente secondes plus tard.</a:t>
            </a:r>
            <a:endParaRPr lang="en-US" sz="2500" dirty="0"/>
          </a:p>
        </p:txBody>
      </p:sp>
      <p:sp>
        <p:nvSpPr>
          <p:cNvPr id="4" name="!!fiche"/>
          <p:cNvSpPr/>
          <p:nvPr/>
        </p:nvSpPr>
        <p:spPr>
          <a:xfrm>
            <a:off x="548640" y="1371600"/>
            <a:ext cx="11091672" cy="512064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!!fname"/>
          <p:cNvSpPr/>
          <p:nvPr/>
        </p:nvSpPr>
        <p:spPr>
          <a:xfrm>
            <a:off x="868680" y="1499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</a:t>
            </a:r>
            <a:pPr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🟢 LP, déjà investi (Levée Bluester Europe V)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48472" y="1554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Généré le 20 juillet 2026 · 28 secondes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11091672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848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LP, associé fondateur de Breizh Rebond, investi en son nom propre sur Bluester Europe V. Vu au dîner LP de Nantes avec Chris le 7 juillet : programmer le RDV Edelweiss 2.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SALESFORCE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9992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40280" y="2999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Chenebault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Prescripteur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Chenebault (salon de Rennes, nov. 2025)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Dernier contact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40280" y="34930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7 juillet 2026 (dîner à Nantes)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7398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40280" y="3739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 (en nom propre)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39867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0280" y="39867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Levée Bluester Europe V · 200 000 €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43434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🕘 HISTORIQUE DE LA RELATION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5994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13/07/2026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0280" y="45994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 piste ouverte : Levée Edelweiss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48463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07/07/2026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40280" y="4846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Dîner LP avec Chris, à Nantes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" y="50932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09/12/2025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40280" y="5093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 sur le teaser Bluester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" y="53400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28/11/2025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40280" y="53400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 : confirme étudier le teaser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" y="55869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27/11/2025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40280" y="5586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 au salon de Rennes, envoi du teaser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5897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spc="100" kern="0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REGISTRE OFFICIEL —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 : Sylvain Querneau, associé fondateur (Breizh Rebond)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208483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234086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Associé fondateur de </a:t>
            </a:r>
            <a:pPr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Breizh Rebond</a:t>
            </a:r>
            <a:pPr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(Rennes), premier fonds breton de retournement, créé en 2021, spécialisé dans le financement de PME en difficulté.</a:t>
            </a:r>
            <a:endParaRPr lang="en-US" sz="950" dirty="0"/>
          </a:p>
          <a:p>
            <a:pPr marL="127000" indent="-1270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M€ investis dans 10 PME</a:t>
            </a:r>
            <a:pPr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tickets de 1 à 6 M€.</a:t>
            </a:r>
            <a:endParaRPr lang="en-US" sz="950" dirty="0"/>
          </a:p>
          <a:p>
            <a:pPr marL="127000" indent="-1270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</a:t>
            </a:r>
            <a:pPr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Best French Turnaround Investor »</a:t>
            </a:r>
            <a:pPr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Private Equity Exchange 2025.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3703320"/>
            <a:ext cx="4983480" cy="713232"/>
          </a:xfrm>
          <a:prstGeom prst="roundRect">
            <a:avLst>
              <a:gd name="adj" fmla="val 7692"/>
            </a:avLst>
          </a:prstGeom>
          <a:solidFill>
            <a:srgbClr val="E9F5FB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77647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PS.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voit les PME de l'Ouest par le bas du cycle, nous par le haut : un prescripteur autant qu'un LP.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4553712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FEF6E7"/>
          </a:solidFill>
          <a:ln w="9525">
            <a:solidFill>
              <a:srgbClr val="F5D9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62686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Sujets potentiellement sensibles —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reprise récente s'est accompagnée de suppressions de postes. À ne pas aborder en ouverture.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5559552"/>
            <a:ext cx="859536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55595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06056" y="5559552"/>
            <a:ext cx="610819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06056" y="5559552"/>
            <a:ext cx="610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08315" y="5559552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8315" y="5559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INSEE / RNE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5907024"/>
            <a:ext cx="735178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907024"/>
            <a:ext cx="73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181698" y="5907024"/>
            <a:ext cx="983894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81698" y="5907024"/>
            <a:ext cx="983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Ouest-France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57032" y="5907024"/>
            <a:ext cx="1356970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57032" y="5907024"/>
            <a:ext cx="1356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 spécialisée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fast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ivring"/>
          <p:cNvSpPr/>
          <p:nvPr/>
        </p:nvSpPr>
        <p:spPr>
          <a:xfrm>
            <a:off x="3718408" y="685800"/>
            <a:ext cx="4754880" cy="4754880"/>
          </a:xfrm>
          <a:prstGeom prst="ellipse">
            <a:avLst/>
          </a:prstGeom>
          <a:solidFill>
            <a:srgbClr val="F7F9FB"/>
          </a:solidFill>
          <a:ln/>
        </p:spPr>
      </p:sp>
      <p:sp>
        <p:nvSpPr>
          <p:cNvPr id="3" name="!!divnum"/>
          <p:cNvSpPr/>
          <p:nvPr/>
        </p:nvSpPr>
        <p:spPr>
          <a:xfrm>
            <a:off x="0" y="1051560"/>
            <a:ext cx="121916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4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914400" y="44348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nos participations.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3 · VIRTUAL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sur nos participations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306324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venu de l'équipe IR : des agents qui vont chercher, systématiquement, la même information dans chacune de nos participations, données sensibles comprises. Ici, la cartographie bancaire : deux régions, une banque, l'analyse tombe.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3 · VIRTUAL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sur nos participations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1481328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venu de l'équipe IR : des agents qui vont chercher, systématiquement, la même information dans chacune de nos participations, données sensibles comprises. Ici, la cartographie bancaire : deux régions, une banque, l'analyse tombe.</a:t>
            </a:r>
            <a:endParaRPr lang="en-US" sz="1250" dirty="0"/>
          </a:p>
        </p:txBody>
      </p:sp>
      <p:sp>
        <p:nvSpPr>
          <p:cNvPr id="5" name="!!app"/>
          <p:cNvSpPr/>
          <p:nvPr/>
        </p:nvSpPr>
        <p:spPr>
          <a:xfrm>
            <a:off x="3581248" y="301752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55568" y="31638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Brain · L'app régions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81248" y="3511296"/>
            <a:ext cx="50292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55568" y="36393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RÉGIONS · SÉLECTION MULTIPLE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55568" y="3895344"/>
            <a:ext cx="987552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5568" y="389534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Bretagne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64328" y="3895344"/>
            <a:ext cx="1609344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4328" y="389534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Pays de la Loire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73088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+ 11 autres régions disponibles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55568" y="43708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55568" y="4626864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7F9FB"/>
          </a:solidFill>
          <a:ln w="9525">
            <a:solidFill>
              <a:srgbClr val="D2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2728" y="4626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55568" y="515721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488C1"/>
          </a:solidFill>
          <a:ln/>
        </p:spPr>
      </p:sp>
      <p:sp>
        <p:nvSpPr>
          <p:cNvPr id="18" name="Text 16"/>
          <p:cNvSpPr/>
          <p:nvPr/>
        </p:nvSpPr>
        <p:spPr>
          <a:xfrm>
            <a:off x="3855568" y="5157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10048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Bretagne + Pays de la Loire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 advTm="1500">
        <p159:morph option="byObject"/>
      </p:transition>
    </mc:Choice>
    <mc:Fallback>
      <p:transition spd="fast" advTm="150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3 · VIRTUAL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sur nos participations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1481328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venu de l'équipe IR : des agents qui vont chercher, systématiquement, la même information dans chacune de nos participations, données sensibles comprises. Ici, la cartographie bancaire : deux régions, une banque, l'analyse tombe.</a:t>
            </a:r>
            <a:endParaRPr lang="en-US" sz="1250" dirty="0"/>
          </a:p>
        </p:txBody>
      </p:sp>
      <p:sp>
        <p:nvSpPr>
          <p:cNvPr id="5" name="!!app"/>
          <p:cNvSpPr/>
          <p:nvPr/>
        </p:nvSpPr>
        <p:spPr>
          <a:xfrm>
            <a:off x="3581248" y="301752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55568" y="31638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Brain · L'app régions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81248" y="3511296"/>
            <a:ext cx="50292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55568" y="36393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RÉGIONS · SÉLECTION MULTIPLE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55568" y="3895344"/>
            <a:ext cx="987552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5568" y="389534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Bretagne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64328" y="3895344"/>
            <a:ext cx="1609344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4328" y="389534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Pays de la Loire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73088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+ 11 autres régions disponibles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55568" y="43708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55568" y="4626864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7F9FB"/>
          </a:solidFill>
          <a:ln w="9525">
            <a:solidFill>
              <a:srgbClr val="D2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2728" y="4626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Caisse d'Épargne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55568" y="515721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488C1"/>
          </a:solidFill>
          <a:ln/>
        </p:spPr>
      </p:sp>
      <p:sp>
        <p:nvSpPr>
          <p:cNvPr id="18" name="Text 16"/>
          <p:cNvSpPr/>
          <p:nvPr/>
        </p:nvSpPr>
        <p:spPr>
          <a:xfrm>
            <a:off x="3855568" y="5157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10048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Bretagne + Pays de la Loire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">
        <p159:morph option="byObject"/>
      </p:transition>
    </mc:Choice>
    <mc:Fallback>
      <p:transition spd="fast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3 · VIRTUAL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sur nos participations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1481328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venu de l'équipe IR : des agents qui vont chercher, systématiquement, la même information dans chacune de nos participations, données sensibles comprises. Ici, la cartographie bancaire : deux régions, une banque, l'analyse tombe.</a:t>
            </a:r>
            <a:endParaRPr lang="en-US" sz="1250" dirty="0"/>
          </a:p>
        </p:txBody>
      </p:sp>
      <p:sp>
        <p:nvSpPr>
          <p:cNvPr id="5" name="!!app"/>
          <p:cNvSpPr/>
          <p:nvPr/>
        </p:nvSpPr>
        <p:spPr>
          <a:xfrm>
            <a:off x="548640" y="301752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1638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Brain · L'app régions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11296"/>
            <a:ext cx="50292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393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RÉGIONS · SÉLECTION MULTIPLE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3895344"/>
            <a:ext cx="987552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Bretagne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3895344"/>
            <a:ext cx="1609344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389534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Pays de la Loire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+ 11 autres régions disponibles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" y="4626864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7F9FB"/>
          </a:solidFill>
          <a:ln w="9525">
            <a:solidFill>
              <a:srgbClr val="D2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626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Caisse d'Épargne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15721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488C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57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440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Bretagne + Pays de la Loire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287121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54496" y="3364992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bancaires rattachées au groupe BPCE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19288" y="274320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29016" y="287121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 M€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47304" y="3364992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prêt effectif, Tier 1 Caisse d'Épargne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912096" y="274320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21824" y="287121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40112" y="3364992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financement cartographiées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434340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4453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CEBPL · extrait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4764024"/>
            <a:ext cx="54864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855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Caisse d'Épargne BPL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78440" y="48554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 M€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5120640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EEF1F5"/>
          </a:solidFill>
          <a:ln/>
        </p:spPr>
      </p:sp>
      <p:sp>
        <p:nvSpPr>
          <p:cNvPr id="35" name="!!bar0"/>
          <p:cNvSpPr/>
          <p:nvPr/>
        </p:nvSpPr>
        <p:spPr>
          <a:xfrm>
            <a:off x="6400800" y="5120640"/>
            <a:ext cx="109728" cy="100584"/>
          </a:xfrm>
          <a:prstGeom prst="roundRect">
            <a:avLst>
              <a:gd name="adj" fmla="val 45455"/>
            </a:avLst>
          </a:prstGeom>
          <a:solidFill>
            <a:srgbClr val="0488C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303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 Populaire Grand Ouest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78440" y="53035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 M€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5568696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EEF1F5"/>
          </a:solidFill>
          <a:ln/>
        </p:spPr>
      </p:sp>
      <p:sp>
        <p:nvSpPr>
          <p:cNvPr id="39" name="!!bar1"/>
          <p:cNvSpPr/>
          <p:nvPr/>
        </p:nvSpPr>
        <p:spPr>
          <a:xfrm>
            <a:off x="6400800" y="5568696"/>
            <a:ext cx="109728" cy="100584"/>
          </a:xfrm>
          <a:prstGeom prst="roundRect">
            <a:avLst>
              <a:gd name="adj" fmla="val 45455"/>
            </a:avLst>
          </a:prstGeom>
          <a:solidFill>
            <a:srgbClr val="0488C1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57515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 Agricole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378440" y="57515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 M€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6016752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EEF1F5"/>
          </a:solidFill>
          <a:ln/>
        </p:spPr>
      </p:sp>
      <p:sp>
        <p:nvSpPr>
          <p:cNvPr id="43" name="!!bar2"/>
          <p:cNvSpPr/>
          <p:nvPr/>
        </p:nvSpPr>
        <p:spPr>
          <a:xfrm>
            <a:off x="6400800" y="6016752"/>
            <a:ext cx="109728" cy="100584"/>
          </a:xfrm>
          <a:prstGeom prst="roundRect">
            <a:avLst>
              <a:gd name="adj" fmla="val 45455"/>
            </a:avLst>
          </a:prstGeom>
          <a:solidFill>
            <a:srgbClr val="0488C1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6199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Autres, 12 établissements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378440" y="619963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31,5 M€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6464808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EEF1F5"/>
          </a:solidFill>
          <a:ln/>
        </p:spPr>
      </p:sp>
      <p:sp>
        <p:nvSpPr>
          <p:cNvPr id="47" name="!!bar3"/>
          <p:cNvSpPr/>
          <p:nvPr/>
        </p:nvSpPr>
        <p:spPr>
          <a:xfrm>
            <a:off x="6400800" y="6464808"/>
            <a:ext cx="109728" cy="100584"/>
          </a:xfrm>
          <a:prstGeom prst="roundRect">
            <a:avLst>
              <a:gd name="adj" fmla="val 45455"/>
            </a:avLst>
          </a:prstGeom>
          <a:solidFill>
            <a:srgbClr val="9B9DA3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 advTm="400">
        <p159:morph option="byObject"/>
      </p:transition>
    </mc:Choice>
    <mc:Fallback>
      <p:transition spd="fast" advTm="40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3 · VIRTUAL BRAIN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sur nos participations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1481328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venu de l'équipe IR : des agents qui vont chercher, systématiquement, la même information dans chacune de nos participations, données sensibles comprises. Ici, la cartographie bancaire : deux régions, une banque, l'analyse tombe.</a:t>
            </a:r>
            <a:endParaRPr lang="en-US" sz="1250" dirty="0"/>
          </a:p>
        </p:txBody>
      </p:sp>
      <p:sp>
        <p:nvSpPr>
          <p:cNvPr id="5" name="!!app"/>
          <p:cNvSpPr/>
          <p:nvPr/>
        </p:nvSpPr>
        <p:spPr>
          <a:xfrm>
            <a:off x="548640" y="301752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1638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Brain · L'app régions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11296"/>
            <a:ext cx="50292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393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RÉGIONS · SÉLECTION MULTIPLE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3895344"/>
            <a:ext cx="987552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534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Bretagne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3895344"/>
            <a:ext cx="1609344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389534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Pays de la Loire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+ 11 autres régions disponibles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" y="4626864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7F9FB"/>
          </a:solidFill>
          <a:ln w="9525">
            <a:solidFill>
              <a:srgbClr val="D2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626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Caisse d'Épargne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15721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488C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57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440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Bretagne + Pays de la Loire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287121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54496" y="3364992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bancaires rattachées au groupe BPCE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19288" y="274320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29016" y="287121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 M€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47304" y="3364992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prêt effectif, Tier 1 Caisse d'Épargne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912096" y="274320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21824" y="287121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40112" y="3364992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financement cartographiées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434340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4453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CEBPL · extrait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4764024"/>
            <a:ext cx="54864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855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Caisse d'Épargne BPL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78440" y="48554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 M€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5120640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EEF1F5"/>
          </a:solidFill>
          <a:ln/>
        </p:spPr>
      </p:sp>
      <p:sp>
        <p:nvSpPr>
          <p:cNvPr id="35" name="!!bar0"/>
          <p:cNvSpPr/>
          <p:nvPr/>
        </p:nvSpPr>
        <p:spPr>
          <a:xfrm>
            <a:off x="6400800" y="5120640"/>
            <a:ext cx="1353312" cy="100584"/>
          </a:xfrm>
          <a:prstGeom prst="roundRect">
            <a:avLst>
              <a:gd name="adj" fmla="val 45455"/>
            </a:avLst>
          </a:prstGeom>
          <a:solidFill>
            <a:srgbClr val="0488C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303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 Populaire Grand Ouest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78440" y="53035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 M€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5568696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EEF1F5"/>
          </a:solidFill>
          <a:ln/>
        </p:spPr>
      </p:sp>
      <p:sp>
        <p:nvSpPr>
          <p:cNvPr id="39" name="!!bar1"/>
          <p:cNvSpPr/>
          <p:nvPr/>
        </p:nvSpPr>
        <p:spPr>
          <a:xfrm>
            <a:off x="6400800" y="5568696"/>
            <a:ext cx="902208" cy="100584"/>
          </a:xfrm>
          <a:prstGeom prst="roundRect">
            <a:avLst>
              <a:gd name="adj" fmla="val 45455"/>
            </a:avLst>
          </a:prstGeom>
          <a:solidFill>
            <a:srgbClr val="0488C1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57515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 Agricole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378440" y="57515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 M€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6016752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EEF1F5"/>
          </a:solidFill>
          <a:ln/>
        </p:spPr>
      </p:sp>
      <p:sp>
        <p:nvSpPr>
          <p:cNvPr id="43" name="!!bar2"/>
          <p:cNvSpPr/>
          <p:nvPr/>
        </p:nvSpPr>
        <p:spPr>
          <a:xfrm>
            <a:off x="6400800" y="6016752"/>
            <a:ext cx="688848" cy="100584"/>
          </a:xfrm>
          <a:prstGeom prst="roundRect">
            <a:avLst>
              <a:gd name="adj" fmla="val 45455"/>
            </a:avLst>
          </a:prstGeom>
          <a:solidFill>
            <a:srgbClr val="0488C1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6199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Autres, 12 établissements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378440" y="619963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31,5 M€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6464808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EEF1F5"/>
          </a:solidFill>
          <a:ln/>
        </p:spPr>
      </p:sp>
      <p:sp>
        <p:nvSpPr>
          <p:cNvPr id="47" name="!!bar3"/>
          <p:cNvSpPr/>
          <p:nvPr/>
        </p:nvSpPr>
        <p:spPr>
          <a:xfrm>
            <a:off x="6400800" y="6464808"/>
            <a:ext cx="1920240" cy="100584"/>
          </a:xfrm>
          <a:prstGeom prst="roundRect">
            <a:avLst>
              <a:gd name="adj" fmla="val 45455"/>
            </a:avLst>
          </a:prstGeom>
          <a:solidFill>
            <a:srgbClr val="9B9DA3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fast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SORTANT D'ICI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choses, utilisables ce matin.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 advTm="700">
        <p159:morph option="byObject"/>
      </p:transition>
    </mc:Choice>
    <mc:Fallback>
      <p:transition spd="fast" advTm="70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SORTANT D'ICI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choses, utilisables ce matin.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78892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313639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Installez CR Express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0" y="251460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81728" y="278892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81728" y="313639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Demandez un Brief Express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0" y="251460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22208" y="278892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22208" y="313639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Parlez à Virtual Brain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on les utilise, </a:t>
            </a:r>
            <a:pPr indent="0" marL="0">
              <a:buNone/>
            </a:pPr>
            <a:r>
              <a:rPr lang="en-US" sz="21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ils deviennent bons.</a:t>
            </a:r>
            <a:endParaRPr lang="en-US" sz="2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fast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idée, un cas d'usage ? Venez nous voir.</a:t>
            </a:r>
            <a:endParaRPr lang="en-US" sz="1400" dirty="0"/>
          </a:p>
        </p:txBody>
      </p:sp>
      <p:pic>
        <p:nvPicPr>
          <p:cNvPr id="5" name="!!cc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97880"/>
            <a:ext cx="1463040" cy="576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2026-07-19T16:53:18Z</dcterms:created>
  <dcterms:modified xsi:type="dcterms:W3CDTF">2026-07-19T16:53:18Z</dcterms:modified>
</cp:coreProperties>
</file>