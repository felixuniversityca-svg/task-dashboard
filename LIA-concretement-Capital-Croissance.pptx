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972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3172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L'IA,</a:t>
            </a:r>
            <a:endParaRPr lang="en-US" sz="6600" dirty="0"/>
          </a:p>
          <a:p>
            <a:pPr indent="0" marL="0">
              <a:lnSpc>
                <a:spcPts val="6800"/>
              </a:lnSpc>
              <a:buNone/>
            </a:pPr>
            <a:r>
              <a:rPr lang="en-US" sz="6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concrètement.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566928" y="4800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construit en deux mois, et ce que vous pouvez installer en sortant d’ici.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899855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Mardi 21 juillet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BOÎTE À OUTILS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cerveau, la bibliothèque, la tuyauterie.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3728" y="233172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6336" y="26243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ED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60" y="2749052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336" y="3355848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CERVEAU DE L'OPÉRATION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6336" y="361188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56336" y="405079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à qui on parle, qui comprend, qui rédige. Elle suit et alimente le projet de bout en bout.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4208" y="233172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EF7F9"/>
          </a:solidFill>
          <a:ln w="9525">
            <a:solidFill>
              <a:srgbClr val="F2BCCA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6816" y="26243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CED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540" y="2749052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6816" y="3355848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TUYAUTERIE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96816" y="361188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696816" y="405079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elle qui fait dialoguer le cerveau et la bibliothèque.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44688" y="233172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37296" y="26243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5F5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020" y="2749052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37296" y="3355848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BIBLIOTHÈQUE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537296" y="361188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8537296" y="4050792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Comptes, contacts, historique. C'est là que tout doit finir, trié, proprement rangé.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001872" y="3657600"/>
            <a:ext cx="347472" cy="0"/>
          </a:xfrm>
          <a:prstGeom prst="line">
            <a:avLst/>
          </a:prstGeom>
          <a:noFill/>
          <a:ln w="19050">
            <a:solidFill>
              <a:srgbClr val="EA4B71"/>
            </a:solidFill>
            <a:prstDash val="solid"/>
            <a:headEnd type="oval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842352" y="3657600"/>
            <a:ext cx="347472" cy="0"/>
          </a:xfrm>
          <a:prstGeom prst="line">
            <a:avLst/>
          </a:prstGeom>
          <a:noFill/>
          <a:ln w="19050">
            <a:solidFill>
              <a:srgbClr val="EA4B71"/>
            </a:solidFill>
            <a:prstDash val="solid"/>
            <a:headEnd type="oval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LE CAPOT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trajet de l'information.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1976" y="2286000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1432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EF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6" y="26060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432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DÉCLENCHEUR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1432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Vous, dans Teams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1432" y="4069080"/>
            <a:ext cx="1645920" cy="713232"/>
          </a:xfrm>
          <a:prstGeom prst="roundRect">
            <a:avLst>
              <a:gd name="adj" fmla="val 7692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3728" y="411480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Un mémo, un brief, une question...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83384" y="3634740"/>
            <a:ext cx="237744" cy="0"/>
          </a:xfrm>
          <a:prstGeom prst="line">
            <a:avLst/>
          </a:prstGeom>
          <a:noFill/>
          <a:ln w="22225">
            <a:solidFill>
              <a:srgbClr val="EA4B7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57704" y="2286000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77160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EEDE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744" y="260604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7716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TRANSCRIPTION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877160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Voxtral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877160" y="4069080"/>
            <a:ext cx="1645920" cy="713232"/>
          </a:xfrm>
          <a:prstGeom prst="roundRect">
            <a:avLst>
              <a:gd name="adj" fmla="val 7692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59456" y="411480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voix devient du texte.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79112" y="3634740"/>
            <a:ext cx="237744" cy="0"/>
          </a:xfrm>
          <a:prstGeom prst="line">
            <a:avLst/>
          </a:prstGeom>
          <a:noFill/>
          <a:ln w="22225">
            <a:solidFill>
              <a:srgbClr val="EA4B71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053432" y="2286000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E9F5FB"/>
          </a:solidFill>
          <a:ln w="9525">
            <a:solidFill>
              <a:srgbClr val="9CCFE7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72888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EEDE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472" y="260604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72888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BRIQUE QUI COMPREND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272888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272888" y="4069080"/>
            <a:ext cx="1645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355184" y="411480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texte devient de l'information.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174840" y="3634740"/>
            <a:ext cx="237744" cy="0"/>
          </a:xfrm>
          <a:prstGeom prst="line">
            <a:avLst/>
          </a:prstGeom>
          <a:noFill/>
          <a:ln w="22225">
            <a:solidFill>
              <a:srgbClr val="EA4B71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449160" y="2286000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668616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F5F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200" y="2606040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668616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L'ACTION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7668616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7668616" y="4069080"/>
            <a:ext cx="1645920" cy="713232"/>
          </a:xfrm>
          <a:prstGeom prst="roundRect">
            <a:avLst>
              <a:gd name="adj" fmla="val 7692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750912" y="411480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L'information est triée et rangée au bon endroit.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9570568" y="3634740"/>
            <a:ext cx="237744" cy="0"/>
          </a:xfrm>
          <a:prstGeom prst="line">
            <a:avLst/>
          </a:prstGeom>
          <a:noFill/>
          <a:ln w="22225">
            <a:solidFill>
              <a:srgbClr val="EA4B71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844888" y="2286000"/>
            <a:ext cx="2084832" cy="269748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064344" y="25054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EFF6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4928" y="2606040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0064344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RETOUR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0064344" y="34747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Teams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10064344" y="4069080"/>
            <a:ext cx="1645920" cy="713232"/>
          </a:xfrm>
          <a:prstGeom prst="roundRect">
            <a:avLst>
              <a:gd name="adj" fmla="val 7692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0146640" y="4114800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validez, en un clic.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214055" y="5596128"/>
            <a:ext cx="384048" cy="0"/>
          </a:xfrm>
          <a:prstGeom prst="line">
            <a:avLst/>
          </a:prstGeom>
          <a:noFill/>
          <a:ln w="25400">
            <a:solidFill>
              <a:srgbClr val="EA4B71"/>
            </a:solidFill>
            <a:prstDash val="solid"/>
            <a:tailEnd type="oval"/>
          </a:ln>
        </p:spPr>
      </p:sp>
      <p:sp>
        <p:nvSpPr>
          <p:cNvPr id="44" name="Text 37"/>
          <p:cNvSpPr/>
          <p:nvPr/>
        </p:nvSpPr>
        <p:spPr>
          <a:xfrm>
            <a:off x="8698687" y="5458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n8n, l'automate qui tire les fils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DIAGNOSTIC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entend tous les jours.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212848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n’a pas tous le réflexe Salesforce... ni toujours le temps. »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27249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9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monde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71600" y="3273552"/>
            <a:ext cx="5212080" cy="969264"/>
          </a:xfrm>
          <a:prstGeom prst="roundRect">
            <a:avLst>
              <a:gd name="adj" fmla="val 13208"/>
            </a:avLst>
          </a:prstGeom>
          <a:solidFill>
            <a:srgbClr val="E9F5FB"/>
          </a:solidFill>
          <a:ln w="9525">
            <a:solidFill>
              <a:srgbClr val="9CCFE7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27632" y="3383280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Ce qui se dit en RDV reste chez ceux qui y étaient.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27632" y="3895344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r" indent="0" marL="0">
              <a:buNone/>
            </a:pPr>
            <a:r>
              <a:rPr lang="en-US" sz="9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et buy-out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4443984"/>
            <a:ext cx="521208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4553712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Aucun moyen d’interroger nos participations d’un coup. 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" y="5065776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buNone/>
            </a:pPr>
            <a:r>
              <a:rPr lang="en-US" sz="9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équipes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71600" y="5614416"/>
            <a:ext cx="5212080" cy="969264"/>
          </a:xfrm>
          <a:prstGeom prst="roundRect">
            <a:avLst>
              <a:gd name="adj" fmla="val 13208"/>
            </a:avLst>
          </a:prstGeom>
          <a:solidFill>
            <a:srgbClr val="E9F5FB"/>
          </a:solidFill>
          <a:ln w="9525">
            <a:solidFill>
              <a:srgbClr val="9CCFE7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27632" y="5724144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50" i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ne sait pas ce qui bouge chez nos LP.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27632" y="6236208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r" indent="0" marL="0">
              <a:buNone/>
            </a:pPr>
            <a:r>
              <a:rPr lang="en-US" sz="950" b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8660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50" kern="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SUJET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86600" y="2880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300" i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L'information est là, </a:t>
            </a:r>
            <a:pPr algn="ctr" indent="0" marL="0">
              <a:lnSpc>
                <a:spcPts val="2800"/>
              </a:lnSpc>
              <a:buNone/>
            </a:pPr>
            <a:r>
              <a:rPr lang="en-US" sz="23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</a:t>
            </a:r>
            <a:pPr algn="ctr" indent="0" marL="0">
              <a:lnSpc>
                <a:spcPts val="2800"/>
              </a:lnSpc>
              <a:buNone/>
            </a:pPr>
            <a:r>
              <a:rPr lang="en-US" sz="2300" i="1" strike="sngStrike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à portée de main.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086600" y="4343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outils pour la mettre à portée de main.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848" y="822960"/>
            <a:ext cx="4572000" cy="4572000"/>
          </a:xfrm>
          <a:prstGeom prst="ellipse">
            <a:avLst/>
          </a:prstGeom>
          <a:solidFill>
            <a:srgbClr val="F7F9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25880"/>
            <a:ext cx="121916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compte-rendu qui s'écrit tout seul.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1 · APRÈS LE RENDEZ-VOUS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11h02, vous sortez d’un rendez-vous. Une minute de dictée dans Teams, le compte-rendu s’écrit : vous donnez votre feu vert. Demander un résumé à une IA, tout le monde sait déjà le faire. La différence est ailleurs : ici, il est rédigé directement dans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sur le bon compte, avec le bon contact —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bref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au bon endroit.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6438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dictez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1193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cartes arrivent dans votre chat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60857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948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saisie Salesforce. 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parlez, vous validez, c’est rangé.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00800" y="594360"/>
            <a:ext cx="5257800" cy="5715000"/>
          </a:xfrm>
          <a:prstGeom prst="roundRect">
            <a:avLst>
              <a:gd name="adj" fmla="val 1565"/>
            </a:avLst>
          </a:prstGeom>
          <a:solidFill>
            <a:srgbClr val="F5F5F7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594360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722376"/>
            <a:ext cx="310896" cy="310896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72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22592" y="722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Express</a:t>
            </a:r>
            <a:pPr indent="0" marL="0">
              <a:buNone/>
            </a:pPr>
            <a:r>
              <a:rPr lang="en-US" sz="9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Bot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777240"/>
            <a:ext cx="219456" cy="2194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29400" y="1344168"/>
            <a:ext cx="35661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13441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 bien reçu, analyse en cours (environ une minute)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29400" y="1874520"/>
            <a:ext cx="48006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85800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 · Malakoff Humanis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0" y="233172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 du 21 juillet 2026 · 0:47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58000" y="2679192"/>
            <a:ext cx="43434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0" y="280720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58000" y="3008376"/>
            <a:ext cx="4343400" cy="310896"/>
          </a:xfrm>
          <a:prstGeom prst="roundRect">
            <a:avLst>
              <a:gd name="adj" fmla="val 14706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67728" y="3008376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Malakoff Humanis [LP]  (existant)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58000" y="337413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858000" y="3575304"/>
            <a:ext cx="4343400" cy="310896"/>
          </a:xfrm>
          <a:prstGeom prst="roundRect">
            <a:avLst>
              <a:gd name="adj" fmla="val 14706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67728" y="3575304"/>
            <a:ext cx="4123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Sophie Lambert  (existant)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858000" y="3995928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— facultatif, précisez tout changement avant de confirmer.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858000" y="4233672"/>
            <a:ext cx="4343400" cy="292608"/>
          </a:xfrm>
          <a:prstGeom prst="roundRect">
            <a:avLst>
              <a:gd name="adj" fmla="val 15625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67728" y="4233672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 : le contact est Jean Dupont, pas Jean Dupond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858000" y="463600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488C1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0" y="4636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247888" y="463600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D6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47888" y="4636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Annuler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629400" y="5285232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EEF9F1"/>
          </a:solidFill>
          <a:ln w="9525">
            <a:solidFill>
              <a:srgbClr val="CBEAD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48272" y="5285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7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Confirmé. La carte suivante arrive...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629400" y="58704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→ Fonds → Compte rendu → Écriture Salesforce : 4 cartes, 4 validations.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848" y="822960"/>
            <a:ext cx="4572000" cy="4572000"/>
          </a:xfrm>
          <a:prstGeom prst="ellipse">
            <a:avLst/>
          </a:prstGeom>
          <a:solidFill>
            <a:srgbClr val="F7F9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25880"/>
            <a:ext cx="121916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Arriver prêt, sans rien préparer.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2 · AVANT LE RENDEZ-VOUS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est 9h21, vous voyez un LP dans 20 minutes. Une phrase dans Teams : il relit d’abord tout ce que notre Salesforce sait déjà de lui, puis enrichit avec ce qui se dit dehors :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presse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registres officiels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LinkedIn aussi, à prendre avec un peu de recul. Vous arrivez préparé, sans rien avoir ouvert.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5981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 comme vous parlez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087368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0736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lit notre Salesforce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62856"/>
            <a:ext cx="292608" cy="292608"/>
          </a:xfrm>
          <a:prstGeom prst="ellipse">
            <a:avLst/>
          </a:prstGeom>
          <a:solidFill>
            <a:srgbClr val="0488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491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il enrichit : CFnews, presse, registres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fait que lire. 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phrase, trente secondes, vous arrivez préparé.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400800" y="594360"/>
            <a:ext cx="5257800" cy="5715000"/>
          </a:xfrm>
          <a:prstGeom prst="roundRect">
            <a:avLst>
              <a:gd name="adj" fmla="val 1565"/>
            </a:avLst>
          </a:prstGeom>
          <a:solidFill>
            <a:srgbClr val="F5F5F7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594360"/>
            <a:ext cx="525780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722376"/>
            <a:ext cx="310896" cy="310896"/>
          </a:xfrm>
          <a:prstGeom prst="ellipse">
            <a:avLst/>
          </a:prstGeom>
          <a:solidFill>
            <a:srgbClr val="036A96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72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22592" y="722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</a:t>
            </a:r>
            <a:pPr indent="0" marL="0">
              <a:buNone/>
            </a:pPr>
            <a:r>
              <a:rPr lang="en-US" sz="9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Bot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777240"/>
            <a:ext cx="219456" cy="2194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452360" y="1344168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E8EAF6"/>
          </a:solidFill>
          <a:ln w="9525">
            <a:solidFill>
              <a:srgbClr val="D7DB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1399032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vois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dans 20 minutes, de </a:t>
            </a:r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Breizh Rebond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Donne-moi tout ce qu’on a sur lui et ce qu’il a fait récemment...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29400" y="2258568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48272" y="2258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regarde, une trentaine de secondes.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29400" y="2770632"/>
            <a:ext cx="48006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58000" y="291693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</a:t>
            </a:r>
            <a:pPr indent="0" marL="0">
              <a:buNone/>
            </a:pPr>
            <a:r>
              <a:rPr lang="en-US" sz="9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🟢 LP, déjà investi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0" y="3282696"/>
            <a:ext cx="43434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0" y="3392424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 est LP, associé fondateur de Breizh Rebond, investi en son nom propre : 200 000 € sur Bluester Europe V, clos le 27/11/2025. Dernier échange : dîner LP avec Chris à Nantes, le 7 juillet. Prochaine étape : programmer le RDV Edelweiss 2.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58000" y="439826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Salesforce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: Chris Chenebault  ·  Dernier contact : 7 juillet 2026 (dîner à Nantes)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 : Levée Bluester Europe V (200 000 €)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858000" y="511149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fonds breton de retournement · 46 M€ investis dans 10 PME · Prix « Best French Turnaround Investor » 2025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629400" y="5980176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29400" y="5980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53528" y="5980176"/>
            <a:ext cx="651053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53528" y="5980176"/>
            <a:ext cx="65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414309" y="5980176"/>
            <a:ext cx="980237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14309" y="5980176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INSEE / RNE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9504274" y="5980176"/>
            <a:ext cx="1046074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504274" y="5980176"/>
            <a:ext cx="1046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Ouest-France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EXPRESS · LE RÉSULTAT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Trente secondes plus tard.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5120640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99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</a:t>
            </a:r>
            <a:pPr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🟢 LP, déjà investi (Levée Bluester Europe V)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48472" y="1554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Généré le 20 juillet 2026 · 28 secondes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1091672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848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LP, associé fondateur de Breizh Rebond, investi en son nom propre sur Bluester Europe V. Vu au dîner LP de Nantes avec Chris le 7 juillet : programmer le RDV Edelweiss 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SALESFORCE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9992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2999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Chenebault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Prescripteur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3246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Chenebault (salon de Rennes, nov. 2025)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Dernier contact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0280" y="3493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7 juillet 2026 (dîner à Nantes)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7398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028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Sylvain Querneau (en nom propre)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8680" y="39867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0280" y="39867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Levée Bluester Europe V · 200 000 €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43434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🕘 HISTORIQUE DE LA RELATION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5994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13/07/2026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0280" y="4599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Nouvelle piste ouverte : Levée Edelweiss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48463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07/07/2026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40280" y="4846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Dîner LP avec Chris, à Nantes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50932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09/12/2025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40280" y="5093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 sur le teaser Bluester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53400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28/11/2025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40280" y="5340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 : confirme étudier le teaser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" y="55869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27/11/2025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40280" y="5586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 au salon de Rennes, envoi du teaser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5897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REGISTRE OFFICIEL —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Dirigeant : Sylvain Querneau, associé fondateur (Breizh Rebond)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208483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234086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Associé fondateur de Breizh Rebond (Rennes), premier fonds breton de retournement, créé en 2021, spécialisé dans le financement de PME en difficulté.</a:t>
            </a:r>
            <a:endParaRPr lang="en-US" sz="950" dirty="0"/>
          </a:p>
          <a:p>
            <a:pPr marL="127000" indent="-1270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M€ investis dans 10 PME, tickets de 1 à 6 M€.</a:t>
            </a:r>
            <a:endParaRPr lang="en-US" sz="950" dirty="0"/>
          </a:p>
          <a:p>
            <a:pPr marL="127000" indent="-1270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« Best French Turnaround Investor », Private Equity Exchange 2025.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3703320"/>
            <a:ext cx="4983480" cy="713232"/>
          </a:xfrm>
          <a:prstGeom prst="roundRect">
            <a:avLst>
              <a:gd name="adj" fmla="val 7692"/>
            </a:avLst>
          </a:prstGeom>
          <a:solidFill>
            <a:srgbClr val="E9F5FB"/>
          </a:solidFill>
          <a:ln w="9525">
            <a:solidFill>
              <a:srgbClr val="B8DD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7647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PS.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voit les PME de l’Ouest par le bas du cycle, nous par le haut : un prescripteur autant qu’un LP.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4553712"/>
            <a:ext cx="4983480" cy="804672"/>
          </a:xfrm>
          <a:prstGeom prst="roundRect">
            <a:avLst>
              <a:gd name="adj" fmla="val 6818"/>
            </a:avLst>
          </a:prstGeom>
          <a:solidFill>
            <a:srgbClr val="FEF6E7"/>
          </a:solidFill>
          <a:ln w="9525">
            <a:solidFill>
              <a:srgbClr val="F5D9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62686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Sujets potentiellement sensibles — </a:t>
            </a:r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reprise récente s’est accompagnée de suppressions de postes. À ne pas aborder en ouverture.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5532120"/>
            <a:ext cx="859536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55321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06056" y="5532120"/>
            <a:ext cx="610819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06056" y="5532120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CFnews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008315" y="5532120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8315" y="55321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INSEE / RNE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5897880"/>
            <a:ext cx="735178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897880"/>
            <a:ext cx="73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81698" y="5897880"/>
            <a:ext cx="983894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81698" y="5897880"/>
            <a:ext cx="983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Ouest-France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57032" y="5897880"/>
            <a:ext cx="1356970" cy="274320"/>
          </a:xfrm>
          <a:prstGeom prst="roundRect">
            <a:avLst>
              <a:gd name="adj" fmla="val 13333"/>
            </a:avLst>
          </a:prstGeom>
          <a:solidFill>
            <a:srgbClr val="F7F9FB"/>
          </a:solidFill>
          <a:ln w="9525">
            <a:solidFill>
              <a:srgbClr val="E6E8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57032" y="5897880"/>
            <a:ext cx="1356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 spécialisée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848" y="822960"/>
            <a:ext cx="4572000" cy="4572000"/>
          </a:xfrm>
          <a:prstGeom prst="ellipse">
            <a:avLst/>
          </a:prstGeom>
          <a:solidFill>
            <a:srgbClr val="F7F9F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25880"/>
            <a:ext cx="1219169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nos participations.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3 · VIRTUAL BRAIN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sur nos participations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venu de l’équipe IR : des agents qui vont chercher, systématiquement, la même information dans chacune de nos participations, données sensibles comprises. Ici, la cartographie bancaire : deux régions, une banque, l’analyse tombe.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6667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Brain · L’app régions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4014216"/>
            <a:ext cx="50292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422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RÉGIONS · SÉLECTION MULTIPLE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4398264"/>
            <a:ext cx="987552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9826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Bretagne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4398264"/>
            <a:ext cx="1609344" cy="329184"/>
          </a:xfrm>
          <a:prstGeom prst="roundRect">
            <a:avLst>
              <a:gd name="adj" fmla="val 16667"/>
            </a:avLst>
          </a:prstGeom>
          <a:solidFill>
            <a:srgbClr val="E9F5FB"/>
          </a:solidFill>
          <a:ln w="9525">
            <a:solidFill>
              <a:srgbClr val="048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398264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6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Pays de la Loire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+ 11 autres régions disponibles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48737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" y="5129784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7F9FB"/>
          </a:solidFill>
          <a:ln w="9525">
            <a:solidFill>
              <a:srgbClr val="D2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1297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d’Épargne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66013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488C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60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7744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Bretagne + Pays de la Loire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777240"/>
            <a:ext cx="17099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91440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54496" y="146304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bancaires rattachées au groupe BPCE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19288" y="777240"/>
            <a:ext cx="17099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29016" y="91440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 M€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147304" y="146304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prêt effectif, Tier 1 Caisse d’Épargne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912096" y="777240"/>
            <a:ext cx="17099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21824" y="91440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040112" y="146304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lignes de financement cartographiées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54864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2770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CEBPL · extrait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3136392"/>
            <a:ext cx="5486400" cy="0"/>
          </a:xfrm>
          <a:prstGeom prst="line">
            <a:avLst/>
          </a:prstGeom>
          <a:noFill/>
          <a:ln w="9525">
            <a:solidFill>
              <a:srgbClr val="E6E8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Caisse d’Épargne BPL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378440" y="33558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 M€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3666744"/>
            <a:ext cx="1920240" cy="109728"/>
          </a:xfrm>
          <a:prstGeom prst="roundRect">
            <a:avLst>
              <a:gd name="adj" fmla="val 41667"/>
            </a:avLst>
          </a:prstGeom>
          <a:solidFill>
            <a:srgbClr val="EEF1F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3666744"/>
            <a:ext cx="1353312" cy="109728"/>
          </a:xfrm>
          <a:prstGeom prst="roundRect">
            <a:avLst>
              <a:gd name="adj" fmla="val 41667"/>
            </a:avLst>
          </a:prstGeom>
          <a:solidFill>
            <a:srgbClr val="0488C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014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Populaire Grand Ouest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378440" y="40142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14,8 M€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4325112"/>
            <a:ext cx="1920240" cy="109728"/>
          </a:xfrm>
          <a:prstGeom prst="roundRect">
            <a:avLst>
              <a:gd name="adj" fmla="val 41667"/>
            </a:avLst>
          </a:prstGeom>
          <a:solidFill>
            <a:srgbClr val="EEF1F5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4325112"/>
            <a:ext cx="902208" cy="109728"/>
          </a:xfrm>
          <a:prstGeom prst="roundRect">
            <a:avLst>
              <a:gd name="adj" fmla="val 41667"/>
            </a:avLst>
          </a:prstGeom>
          <a:solidFill>
            <a:srgbClr val="0488C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4672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 Agricole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378440" y="46725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 M€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1920240" cy="109728"/>
          </a:xfrm>
          <a:prstGeom prst="roundRect">
            <a:avLst>
              <a:gd name="adj" fmla="val 41667"/>
            </a:avLst>
          </a:prstGeom>
          <a:solidFill>
            <a:srgbClr val="EEF1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0" y="4983480"/>
            <a:ext cx="688848" cy="109728"/>
          </a:xfrm>
          <a:prstGeom prst="roundRect">
            <a:avLst>
              <a:gd name="adj" fmla="val 41667"/>
            </a:avLst>
          </a:prstGeom>
          <a:solidFill>
            <a:srgbClr val="0488C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5330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Autres, 12 établissements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378440" y="53309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31,5 M€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0" y="5641848"/>
            <a:ext cx="1920240" cy="109728"/>
          </a:xfrm>
          <a:prstGeom prst="roundRect">
            <a:avLst>
              <a:gd name="adj" fmla="val 41667"/>
            </a:avLst>
          </a:prstGeom>
          <a:solidFill>
            <a:srgbClr val="EEF1F5"/>
          </a:solidFill>
          <a:ln/>
        </p:spPr>
      </p:sp>
      <p:sp>
        <p:nvSpPr>
          <p:cNvPr id="47" name="Shape 45"/>
          <p:cNvSpPr/>
          <p:nvPr/>
        </p:nvSpPr>
        <p:spPr>
          <a:xfrm>
            <a:off x="6400800" y="5641848"/>
            <a:ext cx="1920240" cy="109728"/>
          </a:xfrm>
          <a:prstGeom prst="roundRect">
            <a:avLst>
              <a:gd name="adj" fmla="val 41667"/>
            </a:avLst>
          </a:prstGeom>
          <a:solidFill>
            <a:srgbClr val="9B9DA3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5879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régions, une banque : l’analyse tombe, données sensibles comprises.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SORTANT D'ICI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choses, utilisables ce matin.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3728" y="237744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6336" y="260604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56336" y="324612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Installez CR Express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6336" y="385876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Dictez votre compte-rendu, validez quatre cartes : tout est rangé dans Salesforce.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04208" y="237744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6816" y="260604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96816" y="324612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Demandez un Brief Express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96816" y="385876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phrase dans Teams, trente secondes : la fiche complète avant votre rendez-vous.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44688" y="237744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2D6DC"/>
            </a:solidFill>
            <a:prstDash val="solid"/>
          </a:ln>
          <a:effectLst>
            <a:outerShdw sx="100000" sy="100000" kx="0" ky="0" algn="bl" rotWithShape="0" blurRad="88900" dist="25400" dir="5400000">
              <a:srgbClr val="292A2E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37296" y="260604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37296" y="3246120"/>
            <a:ext cx="2798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Parlez à Virtual Brain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37296" y="3858768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6D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question, toutes nos participations interrogées d’un coup.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on les utilise, </a:t>
            </a:r>
            <a:pPr algn="ctr" indent="0" marL="0">
              <a:buNone/>
            </a:pPr>
            <a:r>
              <a:rPr lang="en-US" sz="2100" b="1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ils deviennent bons.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488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1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 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idée, un cas d’usage ? Venez nous voir.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5577840"/>
            <a:ext cx="1737360" cy="684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2026-07-18T11:38:16Z</dcterms:created>
  <dcterms:modified xsi:type="dcterms:W3CDTF">2026-07-18T11:38:16Z</dcterms:modified>
</cp:coreProperties>
</file>